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Revenue, € billions (FY2026 forecast)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€B</c:v>
                </c:pt>
              </c:strCache>
            </c:strRef>
          </c:tx>
          <c:spPr>
            <a:solidFill>
              <a:srgbClr val="0E4F52"/>
            </a:solidFill>
            <a:ln w="31750">
              <a:solidFill>
                <a:srgbClr val="0E4F52"/>
              </a:solidFill>
            </a:ln>
          </c:spPr>
          <c:marker>
            <c:symbol val="circle"/>
            <c:size val="6"/>
            <c:spPr>
              <a:solidFill>
                <a:srgbClr val="0E4F52"/>
              </a:solidFill>
              <a:ln>
                <a:solidFill>
                  <a:srgbClr val="0E4F52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1.21</c:v>
                </c:pt>
                <c:pt idx="1">
                  <c:v>1.34</c:v>
                </c:pt>
                <c:pt idx="2">
                  <c:v>1.48</c:v>
                </c:pt>
                <c:pt idx="3">
                  <c:v>1.62</c:v>
                </c:pt>
                <c:pt idx="4">
                  <c:v>1.78</c:v>
                </c:pt>
                <c:pt idx="5">
                  <c:v>1.94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 by channel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%</c:v>
                </c:pt>
              </c:strCache>
            </c:strRef>
          </c:tx>
          <c:spPr>
            <a:solidFill>
              <a:srgbClr val="0E4F52"/>
            </a:solidFill>
            <a:ln w="34925">
              <a:solidFill>
                <a:srgbClr val="0E4F52"/>
              </a:solidFill>
            </a:ln>
          </c:spPr>
          <c:cat>
            <c:strRef>
              <c:f>Sheet1!$A$2:$A$5</c:f>
              <c:strCache>
                <c:ptCount val="4"/>
                <c:pt idx="0">
                  <c:v>Travel retail</c:v>
                </c:pt>
                <c:pt idx="1">
                  <c:v>E-commerce</c:v>
                </c:pt>
                <c:pt idx="2">
                  <c:v>Horeca</c:v>
                </c:pt>
                <c:pt idx="3">
                  <c:v>Supermarkets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18</c:v>
                </c:pt>
                <c:pt idx="2">
                  <c:v>22</c:v>
                </c:pt>
                <c:pt idx="3">
                  <c:v>54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Meridian Beverage Co. — 100% non-alcoholic house of brands. Cover slide. Premium, airy, ocean teal with amber accents.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38-year story timeline. Five milestones from 1987 spring water to today's five-brand 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House of brands overview. Five brand blocks with sub-palettes and revenue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Portfolio deep-dive with imagery. Picture cards for Springs, Solara citrus and Origen market still.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Global footprint: 11 production hubs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Global footprint continued: regional revenue split with the non-alcoholic GCC/ASEAN growth thesis. Dark slide for rhythm.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Financials: revenue 2021-2026F line chart plus margin band stats.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Category strategy per brand: one line of strategic intent each, with lifecycle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Sustainability roadmap: water-positive metrics, rPET %, solar kWh.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Innovation pipeline: functional botanicals, regenerative groves, zero-waste press, Gulf zero-proof craft.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Distribution and retail channels: horizontal bar chart with percentages.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Leadership and governance: four profiles plus governance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ESG certifications including halal certification and the honest-gaps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Outlook and investor contact. Close with conviction and contact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F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8096" cy="6867144"/>
          </a:xfrm>
          <a:prstGeom prst="rect">
            <a:avLst/>
          </a:prstGeom>
          <a:solidFill>
            <a:srgbClr val="0E4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97680"/>
            <a:ext cx="5120640" cy="5120640"/>
          </a:xfrm>
          <a:prstGeom prst="ellipse">
            <a:avLst/>
          </a:prstGeom>
          <a:solidFill>
            <a:srgbClr val="0A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2011680"/>
            <a:ext cx="4389120" cy="4389120"/>
          </a:xfrm>
          <a:prstGeom prst="ellipse">
            <a:avLst/>
          </a:prstGeom>
          <a:solidFill>
            <a:srgbClr val="0A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298448"/>
            <a:ext cx="566928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4590288"/>
            <a:ext cx="3794760" cy="512064"/>
          </a:xfrm>
          <a:prstGeom prst="roundRect">
            <a:avLst/>
          </a:prstGeom>
          <a:solidFill>
            <a:srgbClr val="0A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5248656"/>
            <a:ext cx="3794760" cy="512064"/>
          </a:xfrm>
          <a:prstGeom prst="roundRect">
            <a:avLst/>
          </a:prstGeom>
          <a:solidFill>
            <a:srgbClr val="0A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 descr="hero-line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572768"/>
            <a:ext cx="5577840" cy="37124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00200" y="5669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7FB6B4"/>
                </a:solidFill>
                <a:latin typeface="Jost"/>
              </a:rPr>
              <a:t>MERIDIAN BEVERAGE 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572768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>
                <a:solidFill>
                  <a:srgbClr val="FFFFFF"/>
                </a:solidFill>
                <a:latin typeface="Marcellus"/>
              </a:rPr>
              <a:t>Drinks in tune</a:t>
            </a:r>
          </a:p>
          <a:p>
            <a:pPr algn="l"/>
            <a:r>
              <a:rPr sz="4800" b="0">
                <a:solidFill>
                  <a:srgbClr val="FFFFFF"/>
                </a:solidFill>
                <a:latin typeface="Marcellus"/>
              </a:rPr>
              <a:t>with the planet.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75887"/>
            <a:ext cx="4343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D9EAE8"/>
                </a:solidFill>
                <a:latin typeface="Jost"/>
              </a:rPr>
              <a:t>A 100% non-alcoholic house of brands — spring water, sparkling citrus, botanical sodas, natural energy and cold-brew tea — bottled in 11 hubs across 42 markets.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590288"/>
            <a:ext cx="3520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5A623"/>
                </a:solidFill>
                <a:latin typeface="Jost"/>
              </a:rPr>
              <a:t>100% NON-ALCOHOLIC  ·  HALAL-CERTIFIED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248656"/>
            <a:ext cx="3520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CFE6E3"/>
                </a:solidFill>
                <a:latin typeface="Jost"/>
              </a:rPr>
              <a:t>B-CORP  ·  WATER-POSITIVE 120%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447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B6B4"/>
                </a:solidFill>
                <a:latin typeface="Jost"/>
              </a:rPr>
              <a:t>Investor Overview · FY2026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61447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A623"/>
                </a:solidFill>
                <a:latin typeface="Jost"/>
              </a:rPr>
              <a:t>Valencia · est. 1987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384048"/>
            <a:ext cx="50292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3712463"/>
            <a:ext cx="10241280" cy="32004"/>
          </a:xfrm>
          <a:prstGeom prst="rect">
            <a:avLst/>
          </a:prstGeom>
          <a:solidFill>
            <a:srgbClr val="CFE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1" y="3607308"/>
            <a:ext cx="219456" cy="219456"/>
          </a:xfrm>
          <a:prstGeom prst="ellipse">
            <a:avLst/>
          </a:prstGeom>
          <a:solidFill>
            <a:srgbClr val="0E4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145536" y="3607308"/>
            <a:ext cx="219456" cy="21945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257800" y="3607308"/>
            <a:ext cx="219456" cy="219456"/>
          </a:xfrm>
          <a:prstGeom prst="ellipse">
            <a:avLst/>
          </a:prstGeom>
          <a:solidFill>
            <a:srgbClr val="0E4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70064" y="3607308"/>
            <a:ext cx="219456" cy="21945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82328" y="3607308"/>
            <a:ext cx="219456" cy="219456"/>
          </a:xfrm>
          <a:prstGeom prst="ellipse">
            <a:avLst/>
          </a:prstGeom>
          <a:solidFill>
            <a:srgbClr val="0E4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18520" y="3607308"/>
            <a:ext cx="219456" cy="21945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530352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123234"/>
                </a:solidFill>
                <a:latin typeface="Marcellus"/>
              </a:rPr>
              <a:t>One spring, thirty-eight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35331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1605F"/>
                </a:solidFill>
                <a:latin typeface="Jost"/>
              </a:rPr>
              <a:t>A house of brands built entirely without alcohol — by conviction, not by omission.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0E4F52"/>
                </a:solidFill>
                <a:latin typeface="Marcellus"/>
              </a:rPr>
              <a:t>1987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212140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1605F"/>
                </a:solidFill>
                <a:latin typeface="Jost"/>
              </a:rPr>
              <a:t>The Costa family bottles a limestone spring in the Sierra Calderona and sells it to Valencia beach cafés from one van.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4" y="2331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0E4F52"/>
                </a:solidFill>
                <a:latin typeface="Marcellus"/>
              </a:rPr>
              <a:t>2004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4069080"/>
            <a:ext cx="212140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1605F"/>
                </a:solidFill>
                <a:latin typeface="Jost"/>
              </a:rPr>
              <a:t>Solara launches — Valencia oranges pressed within 72 hours of harvest. The citrus house becomes a beverage house.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8" y="2331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0E4F52"/>
                </a:solidFill>
                <a:latin typeface="Marcellus"/>
              </a:rPr>
              <a:t>2016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8" y="4069080"/>
            <a:ext cx="212140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1605F"/>
                </a:solidFill>
                <a:latin typeface="Jost"/>
              </a:rPr>
              <a:t>Verda brings Mediterranean botanicals to fine-dining zero-proof lists. Water-positive pledge work begins.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2" y="2331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0E4F52"/>
                </a:solidFill>
                <a:latin typeface="Marcellus"/>
              </a:rPr>
              <a:t>2019–21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2" y="4069080"/>
            <a:ext cx="212140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1605F"/>
                </a:solidFill>
                <a:latin typeface="Jost"/>
              </a:rPr>
              <a:t>Pulse (2019) and Origen (2021) complete the house. B-Corp certified; water-positive at 120% replenishment.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7736" y="2331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0E4F52"/>
                </a:solidFill>
                <a:latin typeface="Marcellus"/>
              </a:rPr>
              <a:t>2023–26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7736" y="4069080"/>
            <a:ext cx="212140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1605F"/>
                </a:solidFill>
                <a:latin typeface="Jost"/>
              </a:rPr>
              <a:t>Sharjah and Tangerang hubs open. The 100% non-alcoholic portfolio becomes the growth engine in GCC and ASEAN.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03504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0E4F52"/>
                </a:solidFill>
                <a:latin typeface="Jost"/>
              </a:rPr>
              <a:t>Today: €1.9B revenue · 42 markets · 11 hubs · 4,800 people · five brands, zero alcohol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384048"/>
            <a:ext cx="50292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1965960"/>
            <a:ext cx="2039112" cy="3611880"/>
          </a:xfrm>
          <a:prstGeom prst="roundRect">
            <a:avLst/>
          </a:prstGeom>
          <a:solidFill>
            <a:srgbClr val="0E4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18104" y="1965960"/>
            <a:ext cx="2039112" cy="361188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67528" y="1965960"/>
            <a:ext cx="2039112" cy="3611880"/>
          </a:xfrm>
          <a:prstGeom prst="roundRect">
            <a:avLst/>
          </a:prstGeom>
          <a:solidFill>
            <a:srgbClr val="7FA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16952" y="1965960"/>
            <a:ext cx="2039112" cy="3611880"/>
          </a:xfrm>
          <a:prstGeom prst="roundRect">
            <a:avLst/>
          </a:prstGeom>
          <a:solidFill>
            <a:srgbClr val="0A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66376" y="1965960"/>
            <a:ext cx="2039112" cy="3611880"/>
          </a:xfrm>
          <a:prstGeom prst="roundRect">
            <a:avLst/>
          </a:prstGeom>
          <a:solidFill>
            <a:srgbClr val="B9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5870448"/>
            <a:ext cx="11036808" cy="566928"/>
          </a:xfrm>
          <a:prstGeom prst="roundRect">
            <a:avLst/>
          </a:prstGeom>
          <a:solidFill>
            <a:srgbClr val="E7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30352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123234"/>
                </a:solidFill>
                <a:latin typeface="Marcellus"/>
              </a:rPr>
              <a:t>Our house of brands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35331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1605F"/>
                </a:solidFill>
                <a:latin typeface="Jost"/>
              </a:rPr>
              <a:t>Five brands · one standard · not a drop of alcohol in any of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212848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arcellus"/>
              </a:rPr>
              <a:t>MERIDIAN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Marcellus"/>
              </a:rPr>
              <a:t>SPRINGS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127248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FE6E3"/>
                </a:solidFill>
                <a:latin typeface="Jost"/>
              </a:rPr>
              <a:t>Premium still water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416052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5A623"/>
                </a:solidFill>
                <a:latin typeface="Marcellus"/>
              </a:rPr>
              <a:t>31%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4800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FE6E3"/>
                </a:solidFill>
                <a:latin typeface="Jost"/>
              </a:rPr>
              <a:t>of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22128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A2803"/>
                </a:solidFill>
                <a:latin typeface="Marcellus"/>
              </a:rPr>
              <a:t>SOLARA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3127248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4208"/>
                </a:solidFill>
                <a:latin typeface="Jost"/>
              </a:rPr>
              <a:t>Sparkling citrus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416052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Marcellus"/>
              </a:rPr>
              <a:t>27%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9272" y="4800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4208"/>
                </a:solidFill>
                <a:latin typeface="Jost"/>
              </a:rPr>
              <a:t>of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68696" y="22128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arcellus"/>
              </a:rPr>
              <a:t>VERDA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68696" y="3127248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F3E8"/>
                </a:solidFill>
                <a:latin typeface="Jost"/>
              </a:rPr>
              <a:t>Botanical sodas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68696" y="416052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Marcellus"/>
              </a:rPr>
              <a:t>16%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4800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AF3E8"/>
                </a:solidFill>
                <a:latin typeface="Jost"/>
              </a:rPr>
              <a:t>of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22128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A623"/>
                </a:solidFill>
                <a:latin typeface="Marcellus"/>
              </a:rPr>
              <a:t>PULSE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3127248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9C9C6"/>
                </a:solidFill>
                <a:latin typeface="Jost"/>
              </a:rPr>
              <a:t>Natural energy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16052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Marcellus"/>
              </a:rPr>
              <a:t>14%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4800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9C9C6"/>
                </a:solidFill>
                <a:latin typeface="Jost"/>
              </a:rPr>
              <a:t>of 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67544" y="221284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Marcellus"/>
              </a:rPr>
              <a:t>ORIGEN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67544" y="3127248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E6CE"/>
                </a:solidFill>
                <a:latin typeface="Jost"/>
              </a:rPr>
              <a:t>Cold-brew teas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67544" y="416052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Marcellus"/>
              </a:rPr>
              <a:t>12%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67544" y="4800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4E6CE"/>
                </a:solidFill>
                <a:latin typeface="Jost"/>
              </a:rPr>
              <a:t>of revenue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98017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4F52"/>
                </a:solidFill>
                <a:latin typeface="Jost"/>
              </a:rPr>
              <a:t>1,240 SKUs · every line alcohol-free by design · every line halal-certified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868680" y="384048"/>
            <a:ext cx="50292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" name="Picture 1" descr="springs-c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3310128" cy="2057400"/>
          </a:xfrm>
          <a:prstGeom prst="rect">
            <a:avLst/>
          </a:prstGeom>
        </p:spPr>
      </p:pic>
      <p:pic>
        <p:nvPicPr>
          <p:cNvPr id="3" name="Picture 2" descr="citrus-c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874519"/>
            <a:ext cx="3310128" cy="2057400"/>
          </a:xfrm>
          <a:prstGeom prst="rect">
            <a:avLst/>
          </a:prstGeom>
        </p:spPr>
      </p:pic>
      <p:pic>
        <p:nvPicPr>
          <p:cNvPr id="4" name="Picture 3" descr="market-c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874519"/>
            <a:ext cx="3310128" cy="2057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530352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123234"/>
                </a:solidFill>
                <a:latin typeface="Marcellus"/>
              </a:rPr>
              <a:t>Portfolio deep-dive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1605F"/>
                </a:solidFill>
                <a:latin typeface="Jost"/>
              </a:rPr>
              <a:t>Signature serves from three of the five brands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E4F52"/>
                </a:solidFill>
                <a:latin typeface="Marcellus"/>
              </a:rPr>
              <a:t>MERIDIAN SPRINGS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53712"/>
            <a:ext cx="33101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1605F"/>
                </a:solidFill>
                <a:latin typeface="Jost"/>
              </a:rPr>
              <a:t>TDS 118 mg/L, bottled at source, glass + rPET, sommelier-listed in 3,100 restaurants across Europe and the Gulf.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4114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5A1D"/>
                </a:solidFill>
                <a:latin typeface="Marcellus"/>
              </a:rPr>
              <a:t>SOLARA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553712"/>
            <a:ext cx="33101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1605F"/>
                </a:solidFill>
                <a:latin typeface="Jost"/>
              </a:rPr>
              <a:t>Pressed within 72 hours of harvest, never from concentrate, 26% less sugar than category — the toast of family tables.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114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E6B4B"/>
                </a:solidFill>
                <a:latin typeface="Marcellus"/>
              </a:rPr>
              <a:t>ORIGEN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4553712"/>
            <a:ext cx="331012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1605F"/>
                </a:solidFill>
                <a:latin typeface="Jost"/>
              </a:rPr>
              <a:t>Single-estate leaves, 16-hour cold brew, unsweetened by default; regenerative estates in Sri Lanka and Kenya.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868680" y="1920240"/>
          <a:ext cx="658368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Jost"/>
                        </a:rPr>
                        <a:t>Hub</a:t>
                      </a:r>
                    </a:p>
                  </a:txBody>
                  <a:tcPr marL="91440" marR="91440" marT="18288" marB="18288">
                    <a:solidFill>
                      <a:srgbClr val="0E4F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Jost"/>
                        </a:rPr>
                        <a:t>Region</a:t>
                      </a:r>
                    </a:p>
                  </a:txBody>
                  <a:tcPr marL="91440" marR="91440" marT="18288" marB="18288">
                    <a:solidFill>
                      <a:srgbClr val="0E4F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Jost"/>
                        </a:rPr>
                        <a:t>Role</a:t>
                      </a:r>
                    </a:p>
                  </a:txBody>
                  <a:tcPr marL="91440" marR="91440" marT="18288" marB="18288">
                    <a:solidFill>
                      <a:srgbClr val="0E4F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Jost"/>
                        </a:rPr>
                        <a:t>Since</a:t>
                      </a:r>
                    </a:p>
                  </a:txBody>
                  <a:tcPr marL="91440" marR="91440" marT="18288" marB="18288">
                    <a:solidFill>
                      <a:srgbClr val="0E4F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Valencia (HQ)</a:t>
                      </a:r>
                    </a:p>
                  </a:txBody>
                  <a:tcPr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Europe</a:t>
                      </a:r>
                    </a:p>
                  </a:txBody>
                  <a:tcPr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Springs, Solara, press</a:t>
                      </a:r>
                    </a:p>
                  </a:txBody>
                  <a:tcPr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1987</a:t>
                      </a:r>
                    </a:p>
                  </a:txBody>
                  <a:tcPr marL="91440" marR="9144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Mersin</a:t>
                      </a:r>
                    </a:p>
                  </a:txBody>
                  <a:tcPr marL="91440" marR="91440" marT="18288" marB="18288">
                    <a:solidFill>
                      <a:srgbClr val="E7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Türkiye</a:t>
                      </a:r>
                    </a:p>
                  </a:txBody>
                  <a:tcPr marL="91440" marR="91440" marT="18288" marB="18288">
                    <a:solidFill>
                      <a:srgbClr val="E7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Citrus press</a:t>
                      </a:r>
                    </a:p>
                  </a:txBody>
                  <a:tcPr marL="91440" marR="91440" marT="18288" marB="18288">
                    <a:solidFill>
                      <a:srgbClr val="E7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2011</a:t>
                      </a:r>
                    </a:p>
                  </a:txBody>
                  <a:tcPr marL="91440" marR="91440" marT="18288" marB="18288">
                    <a:solidFill>
                      <a:srgbClr val="E7F2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Beja</a:t>
                      </a:r>
                    </a:p>
                  </a:txBody>
                  <a:tcPr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Portugal</a:t>
                      </a:r>
                    </a:p>
                  </a:txBody>
                  <a:tcPr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Solara EU south</a:t>
                      </a:r>
                    </a:p>
                  </a:txBody>
                  <a:tcPr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2014</a:t>
                      </a:r>
                    </a:p>
                  </a:txBody>
                  <a:tcPr marL="91440" marR="9144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Agadir</a:t>
                      </a:r>
                    </a:p>
                  </a:txBody>
                  <a:tcPr marL="91440" marR="91440" marT="18288" marB="18288">
                    <a:solidFill>
                      <a:srgbClr val="E7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Morocco</a:t>
                      </a:r>
                    </a:p>
                  </a:txBody>
                  <a:tcPr marL="91440" marR="91440" marT="18288" marB="18288">
                    <a:solidFill>
                      <a:srgbClr val="E7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Citrus + solar bottling</a:t>
                      </a:r>
                    </a:p>
                  </a:txBody>
                  <a:tcPr marL="91440" marR="91440" marT="18288" marB="18288">
                    <a:solidFill>
                      <a:srgbClr val="E7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2016</a:t>
                      </a:r>
                    </a:p>
                  </a:txBody>
                  <a:tcPr marL="91440" marR="91440" marT="18288" marB="18288">
                    <a:solidFill>
                      <a:srgbClr val="E7F2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Nairobi / Kericho</a:t>
                      </a:r>
                    </a:p>
                  </a:txBody>
                  <a:tcPr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Kenya</a:t>
                      </a:r>
                    </a:p>
                  </a:txBody>
                  <a:tcPr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Origen tea estates</a:t>
                      </a:r>
                    </a:p>
                  </a:txBody>
                  <a:tcPr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2018</a:t>
                      </a:r>
                    </a:p>
                  </a:txBody>
                  <a:tcPr marL="91440" marR="9144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Monterey</a:t>
                      </a:r>
                    </a:p>
                  </a:txBody>
                  <a:tcPr marL="91440" marR="91440" marT="18288" marB="18288">
                    <a:solidFill>
                      <a:srgbClr val="E7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USA</a:t>
                      </a:r>
                    </a:p>
                  </a:txBody>
                  <a:tcPr marL="91440" marR="91440" marT="18288" marB="18288">
                    <a:solidFill>
                      <a:srgbClr val="E7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Verda botanicals</a:t>
                      </a:r>
                    </a:p>
                  </a:txBody>
                  <a:tcPr marL="91440" marR="91440" marT="18288" marB="18288">
                    <a:solidFill>
                      <a:srgbClr val="E7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2021</a:t>
                      </a:r>
                    </a:p>
                  </a:txBody>
                  <a:tcPr marL="91440" marR="91440" marT="18288" marB="18288">
                    <a:solidFill>
                      <a:srgbClr val="E7F2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São Paulo</a:t>
                      </a:r>
                    </a:p>
                  </a:txBody>
                  <a:tcPr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Americas</a:t>
                      </a:r>
                    </a:p>
                  </a:txBody>
                  <a:tcPr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Pulse, Verda Americas</a:t>
                      </a:r>
                    </a:p>
                  </a:txBody>
                  <a:tcPr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2022</a:t>
                      </a:r>
                    </a:p>
                  </a:txBody>
                  <a:tcPr marL="91440" marR="9144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Sharjah</a:t>
                      </a:r>
                    </a:p>
                  </a:txBody>
                  <a:tcPr marL="91440" marR="91440" marT="18288" marB="18288">
                    <a:solidFill>
                      <a:srgbClr val="E7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UAE</a:t>
                      </a:r>
                    </a:p>
                  </a:txBody>
                  <a:tcPr marL="91440" marR="91440" marT="18288" marB="18288">
                    <a:solidFill>
                      <a:srgbClr val="E7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GCC hub, halal lines</a:t>
                      </a:r>
                    </a:p>
                  </a:txBody>
                  <a:tcPr marL="91440" marR="91440" marT="18288" marB="18288">
                    <a:solidFill>
                      <a:srgbClr val="E7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2023</a:t>
                      </a:r>
                    </a:p>
                  </a:txBody>
                  <a:tcPr marL="91440" marR="91440" marT="18288" marB="18288">
                    <a:solidFill>
                      <a:srgbClr val="E7F2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Tangerang</a:t>
                      </a:r>
                    </a:p>
                  </a:txBody>
                  <a:tcPr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Indonesia</a:t>
                      </a:r>
                    </a:p>
                  </a:txBody>
                  <a:tcPr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ASEAN hub, halal lines</a:t>
                      </a:r>
                    </a:p>
                  </a:txBody>
                  <a:tcPr marL="9144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2024</a:t>
                      </a:r>
                    </a:p>
                  </a:txBody>
                  <a:tcPr marL="91440" marR="91440" marT="18288" marB="1828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Rotterdam</a:t>
                      </a:r>
                    </a:p>
                  </a:txBody>
                  <a:tcPr marL="91440" marR="91440" marT="18288" marB="18288">
                    <a:solidFill>
                      <a:srgbClr val="E7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Europe</a:t>
                      </a:r>
                    </a:p>
                  </a:txBody>
                  <a:tcPr marL="91440" marR="91440" marT="18288" marB="18288">
                    <a:solidFill>
                      <a:srgbClr val="E7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Distribution + rPET lab</a:t>
                      </a:r>
                    </a:p>
                  </a:txBody>
                  <a:tcPr marL="91440" marR="91440" marT="18288" marB="18288">
                    <a:solidFill>
                      <a:srgbClr val="E7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41605F"/>
                          </a:solidFill>
                          <a:latin typeface="Jost"/>
                        </a:rPr>
                        <a:t>2009</a:t>
                      </a:r>
                    </a:p>
                  </a:txBody>
                  <a:tcPr marL="91440" marR="91440" marT="18288" marB="18288">
                    <a:solidFill>
                      <a:srgbClr val="E7F2F1"/>
                    </a:solidFill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868680" y="384048"/>
            <a:ext cx="50292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123234"/>
                </a:solidFill>
                <a:latin typeface="Marcellus"/>
              </a:rPr>
              <a:t>Global footprint — 11 production hubs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5331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1605F"/>
                </a:solidFill>
                <a:latin typeface="Jost"/>
              </a:rPr>
              <a:t>Valencia to Tangerang: 1.4 billion units a year across three continents.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2103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>
                <a:solidFill>
                  <a:srgbClr val="0E4F52"/>
                </a:solidFill>
                <a:latin typeface="Marcellus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19872" y="2971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1605F"/>
                </a:solidFill>
                <a:latin typeface="Jost"/>
              </a:rPr>
              <a:t>markets served worldwide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36118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>
                <a:solidFill>
                  <a:srgbClr val="0E4F52"/>
                </a:solidFill>
                <a:latin typeface="Marcellus"/>
              </a:rPr>
              <a:t>1.4B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9872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1605F"/>
                </a:solidFill>
                <a:latin typeface="Jost"/>
              </a:rPr>
              <a:t>units bottled a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51206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>
                <a:solidFill>
                  <a:srgbClr val="0E4F52"/>
                </a:solidFill>
                <a:latin typeface="Marcellu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9872" y="5989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1605F"/>
                </a:solidFill>
                <a:latin typeface="Jost"/>
              </a:rPr>
              <a:t>continents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F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384048"/>
            <a:ext cx="50292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2103120"/>
            <a:ext cx="3429000" cy="2377440"/>
          </a:xfrm>
          <a:prstGeom prst="roundRect">
            <a:avLst/>
          </a:prstGeom>
          <a:solidFill>
            <a:srgbClr val="0A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98848" y="2103120"/>
            <a:ext cx="3429000" cy="2377440"/>
          </a:xfrm>
          <a:prstGeom prst="roundRect">
            <a:avLst/>
          </a:prstGeom>
          <a:solidFill>
            <a:srgbClr val="0A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29016" y="2103120"/>
            <a:ext cx="3429000" cy="2377440"/>
          </a:xfrm>
          <a:prstGeom prst="roundRect">
            <a:avLst/>
          </a:prstGeom>
          <a:solidFill>
            <a:srgbClr val="0A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4892040"/>
            <a:ext cx="10689336" cy="1600200"/>
          </a:xfrm>
          <a:prstGeom prst="roundRect">
            <a:avLst/>
          </a:prstGeom>
          <a:solidFill>
            <a:srgbClr val="0A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3035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FFFFFF"/>
                </a:solidFill>
                <a:latin typeface="Marcellus"/>
              </a:rPr>
              <a:t>Where the revenue pours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35331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9C9C6"/>
                </a:solidFill>
                <a:latin typeface="Jost"/>
              </a:rPr>
              <a:t>42 markets across three regions — EMEA anchors the base, APAC carries the growth.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774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5A623"/>
                </a:solidFill>
                <a:latin typeface="Marcellus"/>
              </a:rPr>
              <a:t>52%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2461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E6E3"/>
                </a:solidFill>
                <a:latin typeface="Jost"/>
              </a:rPr>
              <a:t>EMEA — 20 markets. Spain, France, Germany, UK, UAE, Saudi Arabia, Morocco, Türkiye.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3774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5A623"/>
                </a:solidFill>
                <a:latin typeface="Marcellus"/>
              </a:rPr>
              <a:t>29%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32461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E6E3"/>
                </a:solidFill>
                <a:latin typeface="Jost"/>
              </a:rPr>
              <a:t>Americas — 10 markets. Brazil, Mexico, USA, Canada, Chile, Colombia.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3336" y="2377440"/>
            <a:ext cx="2194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5A623"/>
                </a:solidFill>
                <a:latin typeface="Marcellus"/>
              </a:rPr>
              <a:t>19%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32461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E6E3"/>
                </a:solidFill>
                <a:latin typeface="Jost"/>
              </a:rPr>
              <a:t>APAC — 12 markets. Indonesia, Malaysia, Singapore, Japan, South Korea, Australia.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074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Marcellus"/>
              </a:rPr>
              <a:t>Strategic growth: GCC + Indonesia/Malaysia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559552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FE6E3"/>
                </a:solidFill>
                <a:latin typeface="Jost"/>
              </a:rPr>
              <a:t>These markets grew 28% in FY2025 — more than double group average — because Meridian's 100% non-alcoholic, halal-certified portfolio is the default premium choice for family occasions, Ramadan gifting and faith-conscious hospitality. Pipeline: 2,400 new listings confirmed for FY2026.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384048"/>
            <a:ext cx="50292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549640" y="1965960"/>
            <a:ext cx="3017520" cy="1325880"/>
          </a:xfrm>
          <a:prstGeom prst="roundRect">
            <a:avLst/>
          </a:prstGeom>
          <a:solidFill>
            <a:srgbClr val="E7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49640" y="3429000"/>
            <a:ext cx="3017520" cy="1325880"/>
          </a:xfrm>
          <a:prstGeom prst="roundRect">
            <a:avLst/>
          </a:prstGeom>
          <a:solidFill>
            <a:srgbClr val="FBE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49640" y="4892040"/>
            <a:ext cx="3017520" cy="1325880"/>
          </a:xfrm>
          <a:prstGeom prst="roundRect">
            <a:avLst/>
          </a:prstGeom>
          <a:solidFill>
            <a:srgbClr val="0E4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68680" y="1965960"/>
          <a:ext cx="74066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530352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123234"/>
                </a:solidFill>
                <a:latin typeface="Marcellus"/>
              </a:rPr>
              <a:t>Financial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35331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1605F"/>
                </a:solidFill>
                <a:latin typeface="Jost"/>
              </a:rPr>
              <a:t>Nine straight years of growth; €2B in sight for FY2026.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212140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E4F52"/>
                </a:solidFill>
                <a:latin typeface="Marcellus"/>
              </a:rPr>
              <a:t>14.8%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267004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1605F"/>
                </a:solidFill>
                <a:latin typeface="Jost"/>
              </a:rPr>
              <a:t>EBITDA margin FY2025 (up from 11.9% in 2021)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35844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8A5A1D"/>
                </a:solidFill>
                <a:latin typeface="Marcellus"/>
              </a:rPr>
              <a:t>9.2%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4133087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4A17"/>
                </a:solidFill>
                <a:latin typeface="Jost"/>
              </a:rPr>
              <a:t>Organic revenue growth FY2025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504748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Marcellus"/>
              </a:rPr>
              <a:t>€400M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5596128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FE6E3"/>
                </a:solidFill>
                <a:latin typeface="Jost"/>
              </a:rPr>
              <a:t>Sustainability-linked facility tied to rPET, water and solar targets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384048"/>
            <a:ext cx="50292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2011680"/>
            <a:ext cx="10689336" cy="731520"/>
          </a:xfrm>
          <a:prstGeom prst="roundRect">
            <a:avLst/>
          </a:prstGeom>
          <a:solidFill>
            <a:srgbClr val="E7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2871216"/>
            <a:ext cx="10689336" cy="731520"/>
          </a:xfrm>
          <a:prstGeom prst="roundRect">
            <a:avLst/>
          </a:prstGeom>
          <a:solidFill>
            <a:srgbClr val="FBE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3730752"/>
            <a:ext cx="10689336" cy="731520"/>
          </a:xfrm>
          <a:prstGeom prst="roundRect">
            <a:avLst/>
          </a:prstGeom>
          <a:solidFill>
            <a:srgbClr val="E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4590288"/>
            <a:ext cx="10689336" cy="731520"/>
          </a:xfrm>
          <a:prstGeom prst="roundRect">
            <a:avLst/>
          </a:prstGeom>
          <a:solidFill>
            <a:srgbClr val="0E4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5449824"/>
            <a:ext cx="10689336" cy="731520"/>
          </a:xfrm>
          <a:prstGeom prst="roundRect">
            <a:avLst/>
          </a:prstGeom>
          <a:solidFill>
            <a:srgbClr val="F3E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3035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123234"/>
                </a:solidFill>
                <a:latin typeface="Marcellus"/>
              </a:rPr>
              <a:t>Category strategy, brand by brand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35331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1605F"/>
                </a:solidFill>
                <a:latin typeface="Jost"/>
              </a:rPr>
              <a:t>Defend the core, ride the growth curves, seed the next decade.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12848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E4F52"/>
                </a:solidFill>
                <a:latin typeface="Jost"/>
              </a:rPr>
              <a:t>MERIDIAN SPRINGS · DEFEND — Premiumise: glass return systems in 8 EU cities, sommelier programme to 4,000 doors, Gulf hospitality listings.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072384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4A17"/>
                </a:solidFill>
                <a:latin typeface="Jost"/>
              </a:rPr>
              <a:t>SOLARA · MONETISE — The family-occasion toast: Gulf Ramadan gifting packs, share-packs for Iberia/LatAm retail, zero-sugar line extension 2026.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93192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E6B4B"/>
                </a:solidFill>
                <a:latin typeface="Jost"/>
              </a:rPr>
              <a:t>VERDA · EXPAND — Fine-dining zero-proof credibility in premium grocery; new botanicals from Alpujarra and Serra da Estrela.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791456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Jost"/>
              </a:rPr>
              <a:t>PULSE · SCALE — +34% CAGR since 2021: natural caffeine, no taurine; push US Southwest and GCC convenience while staying clean-label.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65099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B4A17"/>
                </a:solidFill>
                <a:latin typeface="Jost"/>
              </a:rPr>
              <a:t>ORIGEN · SEED — Brew culture: single-estate storytelling, tea sommeliers, 16-hour cold-brew bars in Madrid, Dubai and São Paulo.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6355080"/>
            <a:ext cx="10689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E4F52"/>
                </a:solidFill>
                <a:latin typeface="Jost"/>
              </a:rPr>
              <a:t>Portfolio rule: every strategy must hold at a family table and in a Michelin dining room — without a drop of alcohol.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384048"/>
            <a:ext cx="50292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2011680"/>
            <a:ext cx="3429000" cy="2148840"/>
          </a:xfrm>
          <a:prstGeom prst="roundRect">
            <a:avLst/>
          </a:prstGeom>
          <a:solidFill>
            <a:srgbClr val="0E4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98848" y="2011680"/>
            <a:ext cx="3429000" cy="2148840"/>
          </a:xfrm>
          <a:prstGeom prst="roundRect">
            <a:avLst/>
          </a:prstGeom>
          <a:solidFill>
            <a:srgbClr val="E7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29016" y="2011680"/>
            <a:ext cx="3429000" cy="2148840"/>
          </a:xfrm>
          <a:prstGeom prst="roundRect">
            <a:avLst/>
          </a:prstGeom>
          <a:solidFill>
            <a:srgbClr val="FBE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4526280"/>
            <a:ext cx="10689336" cy="1783080"/>
          </a:xfrm>
          <a:prstGeom prst="roundRect">
            <a:avLst/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3035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123234"/>
                </a:solidFill>
                <a:latin typeface="Marcellus"/>
              </a:rPr>
              <a:t>Sustainability, with receipts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35331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1605F"/>
                </a:solidFill>
                <a:latin typeface="Jost"/>
              </a:rPr>
              <a:t>Water-positive since 2021 · B-Corp recertified 2024 · audited and published, gaps included.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86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F5A623"/>
                </a:solidFill>
                <a:latin typeface="Marcellus"/>
              </a:rPr>
              <a:t>120%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127248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E6E3"/>
                </a:solidFill>
                <a:latin typeface="Jost"/>
              </a:rPr>
              <a:t>Water replenished vs used — 2.9bn litres returned in FY2025; AWS Gold at 6 hubs.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340864"/>
            <a:ext cx="29260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E4F52"/>
                </a:solidFill>
                <a:latin typeface="Marcellus"/>
              </a:rPr>
              <a:t>87% → 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3127248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1605F"/>
                </a:solidFill>
                <a:latin typeface="Jost"/>
              </a:rPr>
              <a:t>rPET share of plastic today → 100% by January 2027. No virgin PET in any line from then.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3336" y="2340864"/>
            <a:ext cx="292608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8A5A1D"/>
                </a:solidFill>
                <a:latin typeface="Marcellus"/>
              </a:rPr>
              <a:t>19.4 GWh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3336" y="3127248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4A17"/>
                </a:solidFill>
                <a:latin typeface="Jost"/>
              </a:rPr>
              <a:t>Solar generated FY2025 (14.2 MWp installed); 41% of daytime production energy.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709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0E4F52"/>
                </a:solidFill>
                <a:latin typeface="Marcellus"/>
              </a:rPr>
              <a:t>Roadmap to 2030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6636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1605F"/>
                </a:solidFill>
                <a:latin typeface="Jost"/>
              </a:rPr>
              <a:t>2027 — 100% rPET; 50% glass return in the Americas.    2028 — all 11 hubs AWS Gold.    2029 — regenerative agriculture on 2,000 hectares.    2030 — Scope 1+2 −75% vs 2019; Scope 3 measured at ingredient level (today's honest gap).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384048"/>
            <a:ext cx="50292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2011680"/>
            <a:ext cx="5230368" cy="2011680"/>
          </a:xfrm>
          <a:prstGeom prst="roundRect">
            <a:avLst/>
          </a:prstGeom>
          <a:solidFill>
            <a:srgbClr val="E3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7648" y="2011680"/>
            <a:ext cx="5230368" cy="2011680"/>
          </a:xfrm>
          <a:prstGeom prst="roundRect">
            <a:avLst/>
          </a:prstGeom>
          <a:solidFill>
            <a:srgbClr val="E7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4251960"/>
            <a:ext cx="5230368" cy="2011680"/>
          </a:xfrm>
          <a:prstGeom prst="roundRect">
            <a:avLst/>
          </a:prstGeom>
          <a:solidFill>
            <a:srgbClr val="FBE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27648" y="4251960"/>
            <a:ext cx="5230368" cy="2011680"/>
          </a:xfrm>
          <a:prstGeom prst="roundRect">
            <a:avLst/>
          </a:prstGeom>
          <a:solidFill>
            <a:srgbClr val="0E4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530352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123234"/>
                </a:solidFill>
                <a:latin typeface="Marcellus"/>
              </a:rPr>
              <a:t>Innovation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35331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1605F"/>
                </a:solidFill>
                <a:latin typeface="Jost"/>
              </a:rPr>
              <a:t>Four programmes, one filter: would a family pour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E6B4B"/>
                </a:solidFill>
                <a:latin typeface="Marcellus"/>
              </a:rPr>
              <a:t>Functional botanicals — 2026-27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70048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1605F"/>
                </a:solidFill>
                <a:latin typeface="Jost"/>
              </a:rPr>
              <a:t>Calm and energy lines under Verda: lemon-verbena L-theanine, saffron citrus. Zero sugar, zero alcohol, zero gimmicks.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24028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E4F52"/>
                </a:solidFill>
                <a:latin typeface="Marcellus"/>
              </a:rPr>
              <a:t>Regenerative groves — 2026-30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670048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1605F"/>
                </a:solidFill>
                <a:latin typeface="Jost"/>
              </a:rPr>
              <a:t>2,000 hectares converted by 2030 with 214 grower partners; a soil-carbon programme that pays growers per hectare, not per promise.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8056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5A1D"/>
                </a:solidFill>
                <a:latin typeface="Marcellus"/>
              </a:rPr>
              <a:t>Zero-waste press —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910328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4A17"/>
                </a:solidFill>
                <a:latin typeface="Jost"/>
              </a:rPr>
              <a:t>Peel and pulp become essential oils, pectin and cattle feed: 94% of fruit mass valorised today, 100% target 2027.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448056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5A623"/>
                </a:solidFill>
                <a:latin typeface="Marcellus"/>
              </a:rPr>
              <a:t>Gulf zero-proof craft — 2027-28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4910328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FE6E3"/>
                </a:solidFill>
                <a:latin typeface="Jost"/>
              </a:rPr>
              <a:t>A premium zero-proof sparkling range co-developed with Emirati and Malaysian hospitality groups — grown from our right to exist: 100% non-alcoholic, halal-certified, made for celebration.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384048"/>
            <a:ext cx="50292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5486400"/>
            <a:ext cx="10689336" cy="868680"/>
          </a:xfrm>
          <a:prstGeom prst="roundRect">
            <a:avLst/>
          </a:prstGeom>
          <a:solidFill>
            <a:srgbClr val="E7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68680" y="1920240"/>
          <a:ext cx="10689336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53035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123234"/>
                </a:solidFill>
                <a:latin typeface="Marcellus"/>
              </a:rPr>
              <a:t>Distribution &amp; retail channels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5331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1605F"/>
                </a:solidFill>
                <a:latin typeface="Jost"/>
              </a:rPr>
              <a:t>Share of FY2025 revenue by route to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650992"/>
            <a:ext cx="10149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E4F52"/>
                </a:solidFill>
                <a:latin typeface="Jost"/>
              </a:rPr>
              <a:t>E-commerce is the fastest-growing route (+41% YoY) — subscription water and tea clubs now span 9 markets. Horeca credibility drives premium pricing everywhere else.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384048"/>
            <a:ext cx="50292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88720" y="2103120"/>
            <a:ext cx="868680" cy="868680"/>
          </a:xfrm>
          <a:prstGeom prst="ellipse">
            <a:avLst/>
          </a:prstGeom>
          <a:solidFill>
            <a:srgbClr val="0E4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950208" y="2103120"/>
            <a:ext cx="868680" cy="8686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711696" y="2103120"/>
            <a:ext cx="868680" cy="868680"/>
          </a:xfrm>
          <a:prstGeom prst="ellipse">
            <a:avLst/>
          </a:prstGeom>
          <a:solidFill>
            <a:srgbClr val="7FA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73184" y="2103120"/>
            <a:ext cx="868680" cy="868680"/>
          </a:xfrm>
          <a:prstGeom prst="ellipse">
            <a:avLst/>
          </a:prstGeom>
          <a:solidFill>
            <a:srgbClr val="B9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5074920"/>
            <a:ext cx="10689336" cy="1371600"/>
          </a:xfrm>
          <a:prstGeom prst="roundRect">
            <a:avLst/>
          </a:prstGeom>
          <a:solidFill>
            <a:srgbClr val="E7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3035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123234"/>
                </a:solidFill>
                <a:latin typeface="Marcellus"/>
              </a:rPr>
              <a:t>Leadership &amp;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1343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Marcellus"/>
              </a:rPr>
              <a:t>MC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004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23234"/>
                </a:solidFill>
                <a:latin typeface="Jost"/>
              </a:rPr>
              <a:t>Mateo Costa — CEO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84448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1605F"/>
                </a:solidFill>
                <a:latin typeface="Jost"/>
              </a:rPr>
              <a:t>Grandson of the founder; led the water-positive pledge.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208" y="231343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3A2803"/>
                </a:solidFill>
                <a:latin typeface="Marcellus"/>
              </a:rPr>
              <a:t>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32004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23234"/>
                </a:solidFill>
                <a:latin typeface="Jost"/>
              </a:rPr>
              <a:t>Elena Costa — Chair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3584448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1605F"/>
                </a:solidFill>
                <a:latin typeface="Jost"/>
              </a:rPr>
              <a:t>Chief Purpose Officer; authored the no-alcohol house rule.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1696" y="231343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Marcellus"/>
              </a:rPr>
              <a:t>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32004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23234"/>
                </a:solidFill>
                <a:latin typeface="Jost"/>
              </a:rPr>
              <a:t>Amira Al-Khatib — CFO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3584448"/>
            <a:ext cx="1783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1605F"/>
                </a:solidFill>
                <a:latin typeface="Jost"/>
              </a:rPr>
              <a:t>Ex-Danone MEA; architect of the GCC growth strategy.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3184" y="2313432"/>
            <a:ext cx="86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Marcellus"/>
              </a:rPr>
              <a:t>JV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4584" y="3200400"/>
            <a:ext cx="2240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23234"/>
                </a:solidFill>
                <a:latin typeface="Jost"/>
              </a:rPr>
              <a:t>João Vasques — Supply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3584448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1605F"/>
                </a:solidFill>
                <a:latin typeface="Jost"/>
              </a:rPr>
              <a:t>Runs 11 hubs and the 72-hour grove-to-press guarantee.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257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E4F52"/>
                </a:solidFill>
                <a:latin typeface="Marcellus"/>
              </a:rPr>
              <a:t>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285232"/>
            <a:ext cx="7315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1605F"/>
                </a:solidFill>
                <a:latin typeface="Jost"/>
              </a:rPr>
              <a:t>Family-controlled 62% · employee trust 9% · institutional 29% · independent board majority (7 of 12) · sustainability-linked executive pay since 2022.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F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384048"/>
            <a:ext cx="50292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2011680"/>
            <a:ext cx="5230368" cy="1051560"/>
          </a:xfrm>
          <a:prstGeom prst="roundRect">
            <a:avLst/>
          </a:prstGeom>
          <a:solidFill>
            <a:srgbClr val="0A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7648" y="2011680"/>
            <a:ext cx="5230368" cy="1051560"/>
          </a:xfrm>
          <a:prstGeom prst="roundRect">
            <a:avLst/>
          </a:prstGeom>
          <a:solidFill>
            <a:srgbClr val="0A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3200400"/>
            <a:ext cx="5230368" cy="1051560"/>
          </a:xfrm>
          <a:prstGeom prst="roundRect">
            <a:avLst/>
          </a:prstGeom>
          <a:solidFill>
            <a:srgbClr val="0A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27648" y="3200400"/>
            <a:ext cx="5230368" cy="1051560"/>
          </a:xfrm>
          <a:prstGeom prst="roundRect">
            <a:avLst/>
          </a:prstGeom>
          <a:solidFill>
            <a:srgbClr val="0A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4526280"/>
            <a:ext cx="10689336" cy="1783080"/>
          </a:xfrm>
          <a:prstGeom prst="roundRect">
            <a:avLst/>
          </a:prstGeom>
          <a:solidFill>
            <a:srgbClr val="0A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30352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FFFFFF"/>
                </a:solidFill>
                <a:latin typeface="Marcellus"/>
              </a:rPr>
              <a:t>ESG certifications &amp; accountability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1284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FE6E3"/>
                </a:solidFill>
                <a:latin typeface="Jost"/>
              </a:rPr>
              <a:t>Certified B-Corporation — 98.4/200 (2024), top 5% of beverage B-Corps worldwide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121408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FE6E3"/>
                </a:solidFill>
                <a:latin typeface="Jost"/>
              </a:rPr>
              <a:t>Halal-certified production — every line alcohol-free by design; ESMA/GAC (UAE) and JAKIM-recognised (Malaysia) schemes, renewed annually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40156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FE6E3"/>
                </a:solidFill>
                <a:latin typeface="Jost"/>
              </a:rPr>
              <a:t>ISO 22000 food safety — all 11 hubs; FSSC 22000 at Valencia, Sharjah and Tangerang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3401568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FE6E3"/>
                </a:solidFill>
                <a:latin typeface="Jost"/>
              </a:rPr>
              <a:t>Rainforest Alliance citrus — 100% of volume since 2022; AWS water standard, Gold at 6 hubs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709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A623"/>
                </a:solidFill>
                <a:latin typeface="Marcellus"/>
              </a:rPr>
              <a:t>Values we report against — including the misses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166360"/>
            <a:ext cx="9966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FE6E3"/>
                </a:solidFill>
                <a:latin typeface="Jost"/>
              </a:rPr>
              <a:t>We are a 100% non-alcoholic company by conviction — it is our identity, our market advantage and our duty of care. We publish an annual water ledger and sustainability letter with our gaps named in plain text: two hubs not yet on certified-renewable grid power, Americas glass returns at 31% vs a 50% target, Scope 3 ingredient logistics unmeasured. Same letter, same place, every year.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F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54480" y="4023360"/>
            <a:ext cx="4754880" cy="4754880"/>
          </a:xfrm>
          <a:prstGeom prst="ellipse">
            <a:avLst/>
          </a:prstGeom>
          <a:solidFill>
            <a:srgbClr val="0A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35440" y="-1920240"/>
            <a:ext cx="4480560" cy="4480560"/>
          </a:xfrm>
          <a:prstGeom prst="ellipse">
            <a:avLst/>
          </a:prstGeom>
          <a:solidFill>
            <a:srgbClr val="0A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170432"/>
            <a:ext cx="50292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4069080"/>
            <a:ext cx="10689336" cy="1737360"/>
          </a:xfrm>
          <a:prstGeom prst="roundRect">
            <a:avLst/>
          </a:prstGeom>
          <a:solidFill>
            <a:srgbClr val="0A3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3258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  <a:latin typeface="Marcellus"/>
              </a:rPr>
              <a:t>Outlook: in tune, and ahead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9EAE8"/>
                </a:solidFill>
                <a:latin typeface="Jost"/>
              </a:rPr>
              <a:t>€2B revenue in FY2026 · 100% rPET by January 2027 · GCC and ASEAN premium non-alcoholic segment compounding at 28% — the market moving toward what Meridian has always been: a full house of brands with not a drop of alcohol, built for every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2793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5A623"/>
                </a:solidFill>
                <a:latin typeface="Marcellus"/>
              </a:rPr>
              <a:t>Investor relations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75488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FE6E3"/>
                </a:solidFill>
                <a:latin typeface="Jost"/>
              </a:rPr>
              <a:t>invest@meridianbeverage.com   ·   +34 961 202 787   ·   Camí de la Foia 14, 46112 Bétera, Valencia, Spain</a:t>
            </a:r>
          </a:p>
          <a:p>
            <a:pPr algn="l"/>
            <a:r>
              <a:rPr sz="1250" b="0">
                <a:solidFill>
                  <a:srgbClr val="CFE6E3"/>
                </a:solidFill>
                <a:latin typeface="Jost"/>
              </a:rPr>
              <a:t>FY2025 annual report, sustainability letter and water ledger: meridianbeverage.com/investors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199632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B6B4"/>
                </a:solidFill>
                <a:latin typeface="Jost"/>
              </a:rPr>
              <a:t>MERIDIAN BEVERAGE CO. — 100% non-alcoholic since 1987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