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31</c:v>
                </c:pt>
                <c:pt idx="2">
                  <c:v>52</c:v>
                </c:pt>
                <c:pt idx="3">
                  <c:v>84</c:v>
                </c:pt>
                <c:pt idx="4">
                  <c:v>125</c:v>
                </c:pt>
                <c:pt idx="5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D6FF3F"/>
            </a:solidFill>
            <a:ln>
              <a:noFill/>
            </a:ln>
          </c:spPr>
          <c:dPt>
            <c:idx val="5"/>
            <c:invertIfNegative val="0"/>
            <c:bubble3D val="0"/>
            <c:spPr>
              <a:solidFill>
                <a:srgbClr val="F2F0E9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31</c:v>
                </c:pt>
                <c:pt idx="2">
                  <c:v>52</c:v>
                </c:pt>
                <c:pt idx="3">
                  <c:v>84</c:v>
                </c:pt>
                <c:pt idx="4">
                  <c:v>125</c:v>
                </c:pt>
                <c:pt idx="5">
                  <c:v>210</c:v>
                </c:pt>
              </c:numCache>
            </c:numRef>
          </c:val>
        </c:ser>
        <c:dLbls>
          <c:numFmt formatCode="&quot;$&quot;0&quot;M&quot;" sourceLinked="0"/>
          <c:txPr>
            <a:bodyPr/>
            <a:lstStyle/>
            <a:p>
              <a:pPr>
                <a:defRPr sz="1050" b="1">
                  <a:solidFill>
                    <a:srgbClr val="F2F0E9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3A3D45"/>
            </a:solidFill>
          </a:ln>
        </c:spPr>
        <c:txPr>
          <a:bodyPr/>
          <a:lstStyle/>
          <a:p>
            <a:pPr>
              <a:defRPr sz="1100">
                <a:solidFill>
                  <a:srgbClr val="9B9E96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1E2024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169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92240" y="0"/>
            <a:ext cx="64008" cy="685800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SERIES C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5760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0" i="0" spc="100">
                <a:solidFill>
                  <a:srgbClr val="F2F0E9"/>
                </a:solidFill>
                <a:latin typeface="Arial Black"/>
              </a:rPr>
              <a:t>KINETIQ</a:t>
            </a:r>
          </a:p>
          <a:p>
            <a:pPr algn="l">
              <a:lnSpc>
                <a:spcPct val="98000"/>
              </a:lnSpc>
            </a:pPr>
            <a:r>
              <a:rPr sz="3000" b="0" i="0">
                <a:solidFill>
                  <a:srgbClr val="F2F0E9"/>
                </a:solidFill>
                <a:latin typeface="Arial Black"/>
              </a:rPr>
              <a:t>MEASURED IN</a:t>
            </a:r>
          </a:p>
          <a:p>
            <a:pPr algn="l">
              <a:lnSpc>
                <a:spcPct val="98000"/>
              </a:lnSpc>
            </a:pPr>
            <a:r>
              <a:rPr sz="3000" b="0" i="0">
                <a:solidFill>
                  <a:srgbClr val="D6FF3F"/>
                </a:solidFill>
                <a:latin typeface="Arial Black"/>
              </a:rPr>
              <a:t>MILLISECONDS.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24528"/>
            <a:ext cx="5394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B9E96"/>
                </a:solidFill>
                <a:latin typeface="Arial"/>
              </a:rPr>
              <a:t>Performance sportswear &amp; equipment, validated on force plates before it touches a starting line. Founded 2019, Portland, Oregon.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0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6FF3F"/>
                </a:solidFill>
                <a:latin typeface="Consolas"/>
              </a:rPr>
              <a:t>0.01s</a:t>
            </a:r>
          </a:p>
          <a:p>
            <a:pPr algn="l"/>
            <a:r>
              <a:rPr sz="850" b="0" i="0" spc="150">
                <a:solidFill>
                  <a:srgbClr val="9B9E96"/>
                </a:solidFill>
                <a:latin typeface="Consolas"/>
              </a:rPr>
              <a:t>REACTION 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5440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6FF3F"/>
                </a:solidFill>
                <a:latin typeface="Consolas"/>
              </a:rPr>
              <a:t>212g</a:t>
            </a:r>
          </a:p>
          <a:p>
            <a:pPr algn="l"/>
            <a:r>
              <a:rPr sz="850" b="0" i="0" spc="150">
                <a:solidFill>
                  <a:srgbClr val="9B9E96"/>
                </a:solidFill>
                <a:latin typeface="Consolas"/>
              </a:rPr>
              <a:t>SHOE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440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6FF3F"/>
                </a:solidFill>
                <a:latin typeface="Consolas"/>
              </a:rPr>
              <a:t>34</a:t>
            </a:r>
          </a:p>
          <a:p>
            <a:pPr algn="l"/>
            <a:r>
              <a:rPr sz="850" b="0" i="0" spc="150">
                <a:solidFill>
                  <a:srgbClr val="9B9E96"/>
                </a:solidFill>
                <a:latin typeface="Consolas"/>
              </a:rPr>
              <a:t>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50">
                <a:solidFill>
                  <a:srgbClr val="9B9E96"/>
                </a:solidFill>
                <a:latin typeface="Consolas"/>
              </a:rPr>
              <a:t>FY2025 REVENUE $210M  ·  +68% YOY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ory-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01  —  BRAND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7223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>
                <a:solidFill>
                  <a:srgbClr val="F2F0E9"/>
                </a:solidFill>
                <a:latin typeface="Arial Black"/>
              </a:rPr>
              <a:t>BORN IN A</a:t>
            </a:r>
          </a:p>
          <a:p>
            <a:pPr algn="l">
              <a:lnSpc>
                <a:spcPct val="98000"/>
              </a:lnSpc>
            </a:pPr>
            <a:r>
              <a:rPr sz="3600" b="0" i="0">
                <a:solidFill>
                  <a:srgbClr val="F2F0E9"/>
                </a:solidFill>
                <a:latin typeface="Arial Black"/>
              </a:rPr>
              <a:t>PORTLAND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84831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B9E96"/>
                </a:solidFill>
                <a:latin typeface="Arial"/>
              </a:rPr>
              <a:t>In 2019, a biomechanics researcher and a sprint coach kept seeing the same failure: </a:t>
            </a:r>
            <a:r>
              <a:rPr sz="1400" b="1" i="0">
                <a:solidFill>
                  <a:srgbClr val="F2F0E9"/>
                </a:solidFill>
                <a:latin typeface="Arial"/>
              </a:rPr>
              <a:t>gear that looked fast but measured slow.</a:t>
            </a:r>
            <a:r>
              <a:rPr sz="1400" b="0" i="0">
                <a:solidFill>
                  <a:srgbClr val="9B9E96"/>
                </a:solidFill>
                <a:latin typeface="Arial"/>
              </a:rPr>
              <a:t> Marketing claimed milliseconds; force plates said otherwise. So they built a company where the stopwatch outranks the mood 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D6FF3F"/>
                </a:solidFill>
                <a:latin typeface="Arial Black"/>
              </a:rPr>
              <a:t>2019</a:t>
            </a:r>
          </a:p>
          <a:p>
            <a:pPr algn="l"/>
            <a:r>
              <a:rPr sz="850" b="0" i="0" spc="120">
                <a:solidFill>
                  <a:srgbClr val="9B9E96"/>
                </a:solidFill>
                <a:latin typeface="Consolas"/>
              </a:rPr>
              <a:t>FOUNDED IN PORTLAND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77639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D6FF3F"/>
                </a:solidFill>
                <a:latin typeface="Arial Black"/>
              </a:rPr>
              <a:t>68%</a:t>
            </a:r>
          </a:p>
          <a:p>
            <a:pPr algn="l"/>
            <a:r>
              <a:rPr sz="850" b="0" i="0" spc="120">
                <a:solidFill>
                  <a:srgbClr val="9B9E96"/>
                </a:solidFill>
                <a:latin typeface="Consolas"/>
              </a:rPr>
              <a:t>YoY GROWTH FY2025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59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D6FF3F"/>
                </a:solidFill>
                <a:latin typeface="Arial Black"/>
              </a:rPr>
              <a:t>$210M</a:t>
            </a:r>
          </a:p>
          <a:p>
            <a:pPr algn="l"/>
            <a:r>
              <a:rPr sz="850" b="0" i="0" spc="120">
                <a:solidFill>
                  <a:srgbClr val="9B9E96"/>
                </a:solidFill>
                <a:latin typeface="Consolas"/>
              </a:rPr>
              <a:t>FY25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37759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D6FF3F"/>
                </a:solidFill>
                <a:latin typeface="Arial Black"/>
              </a:rPr>
              <a:t>34</a:t>
            </a:r>
          </a:p>
          <a:p>
            <a:pPr algn="l"/>
            <a:r>
              <a:rPr sz="850" b="0" i="0" spc="120">
                <a:solidFill>
                  <a:srgbClr val="9B9E96"/>
                </a:solidFill>
                <a:latin typeface="Consolas"/>
              </a:rPr>
              <a:t>COUNTRIES 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100">
                <a:solidFill>
                  <a:srgbClr val="6E7169"/>
                </a:solidFill>
                <a:latin typeface="Consolas"/>
              </a:rPr>
              <a:t>“EVERY GRAM, EVERY MILLIMETER, EVERY MILLISECOND — ON THE RECORD.”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697480"/>
            <a:ext cx="3419856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9976" y="2697480"/>
            <a:ext cx="3419856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4152" y="2697480"/>
            <a:ext cx="3419856" cy="210312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120640"/>
            <a:ext cx="10817352" cy="685800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120640"/>
            <a:ext cx="164592" cy="68580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02  —  THE MARKET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THE TRUST GAP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IN PERFORMANCE GEAR.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B9E96"/>
                </a:solidFill>
                <a:latin typeface="Arial"/>
              </a:rPr>
              <a:t>Brands sell hero narratives. Athletes buy verified numbers — and can't get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D6FF3F"/>
                </a:solidFill>
                <a:latin typeface="Arial Black"/>
              </a:rPr>
              <a:t>$4.1B</a:t>
            </a:r>
          </a:p>
          <a:p>
            <a:pPr algn="l"/>
            <a:r>
              <a:rPr sz="900" b="0" i="0" spc="100">
                <a:solidFill>
                  <a:srgbClr val="9B9E96"/>
                </a:solidFill>
                <a:latin typeface="Consolas"/>
              </a:rPr>
              <a:t>RUN &amp; TRACK FOOTWEAR, US + EU, 2026E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8803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D6FF3F"/>
                </a:solidFill>
                <a:latin typeface="Arial Black"/>
              </a:rPr>
              <a:t>62%</a:t>
            </a:r>
          </a:p>
          <a:p>
            <a:pPr algn="l"/>
            <a:r>
              <a:rPr sz="900" b="0" i="0" spc="100">
                <a:solidFill>
                  <a:srgbClr val="9B9E96"/>
                </a:solidFill>
                <a:latin typeface="Consolas"/>
              </a:rPr>
              <a:t>OF SERIOUS RUNNERS DISTRUST PERFORMANCE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8803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D6FF3F"/>
                </a:solidFill>
                <a:latin typeface="Arial Black"/>
              </a:rPr>
              <a:t>2.1×</a:t>
            </a:r>
          </a:p>
          <a:p>
            <a:pPr algn="l"/>
            <a:r>
              <a:rPr sz="900" b="0" i="0" spc="100">
                <a:solidFill>
                  <a:srgbClr val="9B9E96"/>
                </a:solidFill>
                <a:latin typeface="Consolas"/>
              </a:rPr>
              <a:t>GROWTH OF 'SUPER SHOE' CATEGORY SINCE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20640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0A0A0B"/>
                </a:solidFill>
                <a:latin typeface="Consolas"/>
              </a:rPr>
              <a:t>THE KINETIQ ANSWER — PUBLISH THE LAB SHEET WITH EVERY PRODUCT: FORCE CURVES, DUROMETERS, 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duct-sp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057400"/>
            <a:ext cx="2377440" cy="2377440"/>
          </a:xfrm>
          <a:prstGeom prst="rect">
            <a:avLst/>
          </a:prstGeom>
        </p:spPr>
      </p:pic>
      <p:pic>
        <p:nvPicPr>
          <p:cNvPr id="3" name="Picture 2" descr="product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2057400"/>
            <a:ext cx="2377440" cy="2377440"/>
          </a:xfrm>
          <a:prstGeom prst="rect">
            <a:avLst/>
          </a:prstGeom>
        </p:spPr>
      </p:pic>
      <p:pic>
        <p:nvPicPr>
          <p:cNvPr id="4" name="Picture 3" descr="product-dail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057400"/>
            <a:ext cx="2377440" cy="2377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5623560"/>
            <a:ext cx="5294376" cy="6858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623560"/>
            <a:ext cx="128016" cy="68580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08776" y="5623560"/>
            <a:ext cx="5294376" cy="6858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8776" y="5623560"/>
            <a:ext cx="128016" cy="68580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03  —  PRODUCT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THREE PLATFORMS. ONE CLOCK.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" y="1737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D6FF3F"/>
                </a:solidFill>
                <a:latin typeface="Consolas"/>
              </a:rPr>
              <a:t>TRACK SPIKE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" y="45537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 spc="50">
                <a:solidFill>
                  <a:srgbClr val="F2F0E9"/>
                </a:solidFill>
                <a:latin typeface="Arial Black"/>
              </a:rPr>
              <a:t>VOLT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" y="4901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spc="60">
                <a:solidFill>
                  <a:srgbClr val="9B9E96"/>
                </a:solidFill>
                <a:latin typeface="Consolas"/>
              </a:rPr>
              <a:t>212G · CARBONDRIVE R/11 · 6-PIN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" y="513892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D6FF3F"/>
                </a:solidFill>
                <a:latin typeface="Arial Black"/>
              </a:rPr>
              <a:t>$240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5755" y="1737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D6FF3F"/>
                </a:solidFill>
                <a:latin typeface="Consolas"/>
              </a:rPr>
              <a:t>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5755" y="45537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 spc="50">
                <a:solidFill>
                  <a:srgbClr val="F2F0E9"/>
                </a:solidFill>
                <a:latin typeface="Arial Black"/>
              </a:rPr>
              <a:t>TRAIL APEX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5755" y="4901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spc="60">
                <a:solidFill>
                  <a:srgbClr val="9B9E96"/>
                </a:solidFill>
                <a:latin typeface="Consolas"/>
              </a:rPr>
              <a:t>289G · 4.5MM LUGS · ROCKLOCK SHANK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5755" y="513892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D6FF3F"/>
                </a:solidFill>
                <a:latin typeface="Arial Black"/>
              </a:rPr>
              <a:t>$189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0244" y="1737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200">
                <a:solidFill>
                  <a:srgbClr val="D6FF3F"/>
                </a:solidFill>
                <a:latin typeface="Consolas"/>
              </a:rPr>
              <a:t>DAILY TRAINER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0244" y="45537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 spc="50">
                <a:solidFill>
                  <a:srgbClr val="F2F0E9"/>
                </a:solidFill>
                <a:latin typeface="Arial Black"/>
              </a:rPr>
              <a:t>DAILY GRID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0244" y="4901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spc="60">
                <a:solidFill>
                  <a:srgbClr val="9B9E96"/>
                </a:solidFill>
                <a:latin typeface="Consolas"/>
              </a:rPr>
              <a:t>268G · KINETICFOAM™ · 1,200KM 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0244" y="513892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D6FF3F"/>
                </a:solidFill>
                <a:latin typeface="Arial Black"/>
              </a:rPr>
              <a:t>$129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790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0E9"/>
                </a:solidFill>
                <a:latin typeface="Consolas"/>
              </a:rPr>
              <a:t>COMPRESSION LINE — $38–85</a:t>
            </a:r>
            <a:r>
              <a:rPr sz="950" b="0" i="0">
                <a:solidFill>
                  <a:srgbClr val="9B9E96"/>
                </a:solidFill>
                <a:latin typeface="Consolas"/>
              </a:rPr>
              <a:t>   GRADUATED 20–28 MMHG · 34% OF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57790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0E9"/>
                </a:solidFill>
                <a:latin typeface="Consolas"/>
              </a:rPr>
              <a:t>ELITE GLOVES — $65</a:t>
            </a:r>
            <a:r>
              <a:rPr sz="950" b="0" i="0">
                <a:solidFill>
                  <a:srgbClr val="9B9E96"/>
                </a:solidFill>
                <a:latin typeface="Consolas"/>
              </a:rPr>
              <a:t>   SILICONE GRIP MAP · 8% OF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ch-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0"/>
            <a:ext cx="397763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04  —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THE LAB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21408"/>
            <a:ext cx="23957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50">
                <a:solidFill>
                  <a:srgbClr val="D6FF3F"/>
                </a:solidFill>
                <a:latin typeface="Arial Black"/>
              </a:rPr>
              <a:t>KINETICFOAM™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B9E96"/>
                </a:solidFill>
                <a:latin typeface="Arial"/>
              </a:rPr>
              <a:t>NITROGEN-INFUSED SUPERCRITICAL MIDSOLE, TWIN-FOAMED FOR REBOUND WITHOUT COLLAPSE.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ENERGY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87.2%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0.11 G/CM³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CONTACT-TIME 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−3.4%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HEAT DRIFT @40°C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&lt;2%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2121408"/>
            <a:ext cx="23957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50">
                <a:solidFill>
                  <a:srgbClr val="D6FF3F"/>
                </a:solidFill>
                <a:latin typeface="Arial Black"/>
              </a:rPr>
              <a:t>CARBONDRIVE 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76148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B9E96"/>
                </a:solidFill>
                <a:latin typeface="Arial"/>
              </a:rPr>
              <a:t>ONE-PIECE AEROSPACE CARBON ON A VARIABLE-STIFFNESS MAP. TUNED PER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STIFFNESS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9.2 N/MM²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40233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RUNNING ECONOMY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40233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+4.2%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4389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PLATE MASS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43891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38G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754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GEOMETRY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4754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R/11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2121408"/>
            <a:ext cx="23957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50">
                <a:solidFill>
                  <a:srgbClr val="D6FF3F"/>
                </a:solidFill>
                <a:latin typeface="Arial Black"/>
              </a:rPr>
              <a:t>AEROKNIT UPPER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88152" y="276148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B9E96"/>
                </a:solidFill>
                <a:latin typeface="Arial"/>
              </a:rPr>
              <a:t>ZONAL KNIT MAPPED FROM 27,000+ LAB SCANS. LOCKED WHERE FORCE DEMANDS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WEIGHT (EU 42)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212G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40233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AIRFLOW VS WOVEN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40233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+38%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8152" y="4389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RECYCLED YARN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43891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72%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4754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50">
                <a:solidFill>
                  <a:srgbClr val="9B9E96"/>
                </a:solidFill>
                <a:latin typeface="Consolas"/>
              </a:rPr>
              <a:t>STRETCH 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754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2F0E9"/>
                </a:solidFill>
                <a:latin typeface="Consolas"/>
              </a:rPr>
              <a:t>96%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7607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80">
                <a:solidFill>
                  <a:srgbClr val="6E7169"/>
                </a:solidFill>
                <a:latin typeface="Consolas"/>
              </a:rPr>
              <a:t>VALIDATED ON A 12-CAMERA MOTION-CAPTURE ARRAY AND INSTRUMENTED TREADMILL — 27,412 TESTS LOGGED SINCE 2019.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3520440"/>
          <a:ext cx="585216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600200"/>
                <a:gridCol w="16002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METRIC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VS. 2023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GROSS MARGIN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58%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+14 PTS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CONTRIBUTION MARGIN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41%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+9 PTS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BLENDED CAC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$74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-22%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LTV : CAC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4.2x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3.1x -&gt; 4.2x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REPEAT RATE (12-MO)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47%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+11 PTS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85800" y="2103120"/>
            <a:ext cx="6601968" cy="77724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87768" y="2103120"/>
            <a:ext cx="4215384" cy="777240"/>
          </a:xfrm>
          <a:prstGeom prst="rect">
            <a:avLst/>
          </a:prstGeom>
          <a:solidFill>
            <a:srgbClr val="3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05  — 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DTC-FIRST,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WHOLESALE FOR REACH.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CHANNEL MIX — FY2025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0A0A0B"/>
                </a:solidFill>
                <a:latin typeface="Arial Black"/>
              </a:rPr>
              <a:t>DTC  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1284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2F0E9"/>
                </a:solidFill>
                <a:latin typeface="Arial Black"/>
              </a:rPr>
              <a:t>WHOLESALE  39%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80">
                <a:solidFill>
                  <a:srgbClr val="9B9E96"/>
                </a:solidFill>
                <a:latin typeface="Consolas"/>
              </a:rPr>
              <a:t>$128M GMV · 47% REPEAT RATE · 4.2x LTV/CAC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346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80">
                <a:solidFill>
                  <a:srgbClr val="9B9E96"/>
                </a:solidFill>
                <a:latin typeface="Consolas"/>
              </a:rPr>
              <a:t>118 DOORS · NO DISCOUNT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101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UNIT ECONOMICS — FY2025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06  — 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COMPOUNDING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AT 68% A YEAR.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20574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150">
                <a:solidFill>
                  <a:srgbClr val="D6FF3F"/>
                </a:solidFill>
                <a:latin typeface="Consolas"/>
              </a:rPr>
              <a:t>KEY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468880"/>
            <a:ext cx="2734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9B9E96"/>
                </a:solidFill>
                <a:latin typeface="Consolas"/>
              </a:rPr>
              <a:t>CAGR 2021–26E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670048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D6FF3F"/>
                </a:solidFill>
                <a:latin typeface="Arial Black"/>
              </a:rPr>
              <a:t>64%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310128"/>
            <a:ext cx="2734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9B9E96"/>
                </a:solidFill>
                <a:latin typeface="Consolas"/>
              </a:rPr>
              <a:t>DTC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511296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D6FF3F"/>
                </a:solidFill>
                <a:latin typeface="Arial Black"/>
              </a:rPr>
              <a:t>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151376"/>
            <a:ext cx="2734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9B9E96"/>
                </a:solidFill>
                <a:latin typeface="Consolas"/>
              </a:rPr>
              <a:t>MARKETS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352544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D6FF3F"/>
                </a:solidFill>
                <a:latin typeface="Arial Black"/>
              </a:rP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992624"/>
            <a:ext cx="2734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9B9E96"/>
                </a:solidFill>
                <a:latin typeface="Consolas"/>
              </a:rPr>
              <a:t>AVG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193792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D6FF3F"/>
                </a:solidFill>
                <a:latin typeface="Arial Black"/>
              </a:rPr>
              <a:t>$142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6E7169"/>
                </a:solidFill>
                <a:latin typeface="Consolas"/>
              </a:rPr>
              <a:t>2026E = QUARTERLY RUN-RATE × SEASONALITY INDEX. AUDITED THROUGH FY2025.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07 / 14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85800" y="2011680"/>
          <a:ext cx="768096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2103120"/>
          <a:ext cx="7406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METRIC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VOLT SPRINT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TRAIL APEX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DAILY GRID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MSRP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$240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$189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$129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COGS (50K-UNIT RUN)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$71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$62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$47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GROSS MARGIN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70%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67%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64%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FIRST-PASS YIELD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96.4%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95.1%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97.8%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RETURN RATE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2.1%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3.4%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2.9%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CONTRIB. MARGIN / UNIT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$118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$77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$49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07  — 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THE NUMBERS BEHIND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THE MARGIN.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80">
                <a:solidFill>
                  <a:srgbClr val="9B9E96"/>
                </a:solidFill>
                <a:latin typeface="Consolas"/>
              </a:rPr>
              <a:t>COGS AT 50K-UNIT RUNS · FY2025 BLENDED FULFILLMENT · YIELD &amp; RETURNS FROM Q1–Q2 2026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920240"/>
            <a:ext cx="3419856" cy="329184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79976" y="1920240"/>
            <a:ext cx="3419856" cy="329184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1920240"/>
            <a:ext cx="3419856" cy="329184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08  —  ATHLETE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WORN BY PEOPLE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WHO 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84831"/>
            <a:ext cx="502920" cy="5029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A0A0B"/>
                </a:solidFill>
                <a:latin typeface="Arial Black"/>
              </a:rPr>
              <a:t>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30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30">
                <a:solidFill>
                  <a:srgbClr val="F2F0E9"/>
                </a:solidFill>
                <a:latin typeface="Arial Black"/>
              </a:rPr>
              <a:t>MARIAM OKONKWO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9572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6E7169"/>
                </a:solidFill>
                <a:latin typeface="Consolas"/>
              </a:rPr>
              <a:t>100M — LAGOS / PORTLAND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34198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D6FF3F"/>
                </a:solidFill>
                <a:latin typeface="Arial Black"/>
              </a:rPr>
              <a:t>10.89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3419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9B9E96"/>
                </a:solidFill>
                <a:latin typeface="Consolas"/>
              </a:rPr>
              <a:t>100M PB · 0.148s 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9E96"/>
                </a:solidFill>
                <a:latin typeface="Arial"/>
              </a:rPr>
              <a:t>“The first spike that came with its own force curve. I signed because the data was honest.”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084831"/>
            <a:ext cx="502920" cy="5029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A0A0B"/>
                </a:solidFill>
                <a:latin typeface="Arial Black"/>
              </a:rPr>
              <a:t>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130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30">
                <a:solidFill>
                  <a:srgbClr val="F2F0E9"/>
                </a:solidFill>
                <a:latin typeface="Arial Black"/>
              </a:rPr>
              <a:t>DIEGO SALAS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39572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6E7169"/>
                </a:solidFill>
                <a:latin typeface="Consolas"/>
              </a:rPr>
              <a:t>MARATHON — BOGOTÁ / FLAGSTAFF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788920"/>
            <a:ext cx="34198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D6FF3F"/>
                </a:solidFill>
                <a:latin typeface="Arial Black"/>
              </a:rPr>
              <a:t>2:04:51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493008"/>
            <a:ext cx="3419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9B9E96"/>
                </a:solidFill>
                <a:latin typeface="Consolas"/>
              </a:rPr>
              <a:t>MARATHON PB · VALENCIA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8862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9E96"/>
                </a:solidFill>
                <a:latin typeface="Arial"/>
              </a:rPr>
              <a:t>“My splits at 35k were faster than my 30k splits the year before.”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2084831"/>
            <a:ext cx="502920" cy="5029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A0A0B"/>
                </a:solidFill>
                <a:latin typeface="Arial Black"/>
              </a:rPr>
              <a:t>YT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130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30">
                <a:solidFill>
                  <a:srgbClr val="F2F0E9"/>
                </a:solidFill>
                <a:latin typeface="Arial Black"/>
              </a:rPr>
              <a:t>YUKI TANAKA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239572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6E7169"/>
                </a:solidFill>
                <a:latin typeface="Consolas"/>
              </a:rPr>
              <a:t>400M HURDLES — OSAKA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2788920"/>
            <a:ext cx="34198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D6FF3F"/>
                </a:solidFill>
                <a:latin typeface="Arial Black"/>
              </a:rPr>
              <a:t>48.20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3493008"/>
            <a:ext cx="3419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9B9E96"/>
                </a:solidFill>
                <a:latin typeface="Consolas"/>
              </a:rPr>
              <a:t>400MH PB · NATIONAL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38862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9E96"/>
                </a:solidFill>
                <a:latin typeface="Arial"/>
              </a:rPr>
              <a:t>“Ten strides between hurdles instead of eleven. I felt it in the first session.”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00">
                <a:solidFill>
                  <a:srgbClr val="6E7169"/>
                </a:solidFill>
                <a:latin typeface="Consolas"/>
              </a:rPr>
              <a:t>36 SPONSORED ATHLETES · 11 NATIONS · PBs CURRENT AS OF THE 2026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paign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63640" y="5806440"/>
            <a:ext cx="5257800" cy="548640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63640" y="8229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09  —  CAMPAIGN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17043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2F0E9"/>
                </a:solidFill>
                <a:latin typeface="Arial Black"/>
              </a:rPr>
              <a:t>MEASURED,</a:t>
            </a:r>
          </a:p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D6FF3F"/>
                </a:solidFill>
                <a:latin typeface="Arial Black"/>
              </a:rPr>
              <a:t>NOT MARKETED.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834640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B9E96"/>
                </a:solidFill>
                <a:latin typeface="Arial"/>
              </a:rPr>
              <a:t>A 4-minute film across 14 months of lab sessions, failure tests and starting lines — every on-screen claim backed by telemetry.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977639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6FF3F"/>
                </a:solidFill>
                <a:latin typeface="Consolas"/>
              </a:rPr>
              <a:t>00:45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9B9E96"/>
                </a:solidFill>
                <a:latin typeface="Consolas"/>
              </a:rPr>
              <a:t>FORCE-PLATE OPEN — THE CLAIM, TESTED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37997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6FF3F"/>
                </a:solidFill>
                <a:latin typeface="Consolas"/>
              </a:rPr>
              <a:t>02:10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3799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9B9E96"/>
                </a:solidFill>
                <a:latin typeface="Consolas"/>
              </a:rPr>
              <a:t>FAILURE REEL — 14 PROTOTYPES THAT DIDN'T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78231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6FF3F"/>
                </a:solidFill>
                <a:latin typeface="Consolas"/>
              </a:rPr>
              <a:t>03:30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7823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9B9E96"/>
                </a:solidFill>
                <a:latin typeface="Consolas"/>
              </a:rPr>
              <a:t>RACE DAY — LAGOS · VALENCIA · OSAKA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18464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6FF3F"/>
                </a:solidFill>
                <a:latin typeface="Consolas"/>
              </a:rPr>
              <a:t>04:12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518464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60">
                <a:solidFill>
                  <a:srgbClr val="9B9E96"/>
                </a:solidFill>
                <a:latin typeface="Consolas"/>
              </a:rPr>
              <a:t>CLOSE — 'EVERY NUMBER ON SCREEN IS REAL'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9618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6E7169"/>
                </a:solidFill>
                <a:latin typeface="Consolas"/>
              </a:rPr>
              <a:t>DIR. R. OKAFOR · PORTLAND, LAGOS &amp; OSAKA · $2.1M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2103120"/>
          <a:ext cx="92354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657600"/>
                <a:gridCol w="1737360"/>
                <a:gridCol w="17373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REGION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COUNTRIES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FY25 REVENUE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D6FF3F"/>
                          </a:solidFill>
                          <a:latin typeface="Consolas"/>
                        </a:rPr>
                        <a:t>FY27 TARGET</a:t>
                      </a:r>
                    </a:p>
                  </a:txBody>
                  <a:tcPr anchor="ctr" marL="146304" marR="91440" marT="27432" marB="27432">
                    <a:solidFill>
                      <a:srgbClr val="1A1C20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NORTH AMERICA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US · CA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$96M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$128M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EUROPE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UK · DE · FR · NL · BE · ES · IT · PT · SE · NO · DK · FI · PL · CZ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$71M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$102M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ASIA-PACIFIC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JP · KR · AU · NZ · SG · TW · HK · IN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$31M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$68M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MIDDLE EAST &amp; AFRICA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AE · ZA · KE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$12M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$22M</a:t>
                      </a:r>
                    </a:p>
                  </a:txBody>
                  <a:tcPr anchor="ctr" marL="146304" marR="91440" marT="27432" marB="27432">
                    <a:solidFill>
                      <a:srgbClr val="101114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2F0E9"/>
                          </a:solidFill>
                          <a:latin typeface="Consolas"/>
                        </a:rPr>
                        <a:t>TOTAL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$210M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F2F0E9"/>
                          </a:solidFill>
                          <a:latin typeface="Consolas"/>
                        </a:rPr>
                        <a:t>$320M</a:t>
                      </a:r>
                    </a:p>
                  </a:txBody>
                  <a:tcPr anchor="ctr" marL="146304" marR="91440" marT="27432" marB="27432">
                    <a:solidFill>
                      <a:srgbClr val="16181D"/>
                    </a:solidFill>
                    <a:lnL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L>
                    <a:lnR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R>
                    <a:lnT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T>
                    <a:lnB xmlns:c="http://schemas.openxmlformats.org/drawingml/2006/chart" w="9525" cap="flat" cmpd="sng" algn="ctr">
                      <a:solidFill>
                        <a:srgbClr val="26282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10  —  MARKET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34 COUNTRIES,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FOUR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1441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80">
                <a:solidFill>
                  <a:srgbClr val="9B9E96"/>
                </a:solidFill>
                <a:latin typeface="Consolas"/>
              </a:rPr>
              <a:t>APAC ENTRY SEQUENCE 2027 — JAPAN, KOREA, AUSTRALIA FIRST WAVE; SINGAPORE, TAIWAN, INDIA SECOND WAVE.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11  — 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MEASURED HERE TOO.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D6FF3F"/>
                </a:solidFill>
                <a:latin typeface="Arial Black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386584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60">
                <a:solidFill>
                  <a:srgbClr val="9B9E96"/>
                </a:solidFill>
                <a:latin typeface="Consolas"/>
              </a:rPr>
              <a:t>RECYCLED YARN IN CURRENT AEROKNIT — TARGET 90% BY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D6FF3F"/>
                </a:solidFill>
                <a:latin typeface="Arial Black"/>
              </a:rPr>
              <a:t>12,000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4776" y="2386584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60">
                <a:solidFill>
                  <a:srgbClr val="9B9E96"/>
                </a:solidFill>
                <a:latin typeface="Consolas"/>
              </a:rPr>
              <a:t>PAIRS TAKE-BACK RECYCLED INTO TRACK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D6FF3F"/>
                </a:solidFill>
                <a:latin typeface="Arial Black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941063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60">
                <a:solidFill>
                  <a:srgbClr val="9B9E96"/>
                </a:solidFill>
                <a:latin typeface="Consolas"/>
              </a:rPr>
              <a:t>PLASTIC-FREE PACKAGING SINCE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38862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D6FF3F"/>
                </a:solidFill>
                <a:latin typeface="Arial Black"/>
              </a:rPr>
              <a:t>9/9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3941063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60">
                <a:solidFill>
                  <a:srgbClr val="9B9E96"/>
                </a:solidFill>
                <a:latin typeface="Consolas"/>
              </a:rPr>
              <a:t>FACTORY PARTNERS AUDITED — RESULTS PUBLISHED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80">
                <a:solidFill>
                  <a:srgbClr val="6E7169"/>
                </a:solidFill>
                <a:latin typeface="Consolas"/>
              </a:rPr>
              <a:t>“A COMPANY THAT PUBLISHES FORCE CURVES HAS NO EXCUSE TO HIDE ITS FOOTPRINT.” — FOUNDER LETTER,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66360"/>
            <a:ext cx="7031736" cy="5029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17536" y="5166360"/>
            <a:ext cx="2432304" cy="502920"/>
          </a:xfrm>
          <a:prstGeom prst="rect">
            <a:avLst/>
          </a:prstGeom>
          <a:solidFill>
            <a:srgbClr val="3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5166360"/>
            <a:ext cx="1353312" cy="502920"/>
          </a:xfrm>
          <a:prstGeom prst="rect">
            <a:avLst/>
          </a:prstGeom>
          <a:solidFill>
            <a:srgbClr val="26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897880"/>
            <a:ext cx="10817352" cy="502920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12  —  TEAM &amp;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4124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BUILT BY MEASURERS.</a:t>
            </a:r>
          </a:p>
          <a:p>
            <a:pPr algn="l">
              <a:lnSpc>
                <a:spcPct val="98000"/>
              </a:lnSpc>
            </a:pPr>
            <a:r>
              <a:rPr sz="3600" b="0" i="0" spc="50">
                <a:solidFill>
                  <a:srgbClr val="F2F0E9"/>
                </a:solidFill>
                <a:latin typeface="Arial Black"/>
              </a:rPr>
              <a:t>BACKED BY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56816"/>
            <a:ext cx="502920" cy="457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93392"/>
            <a:ext cx="502920" cy="5029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A0A0B"/>
                </a:solidFill>
                <a:latin typeface="Arial Black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30">
                <a:solidFill>
                  <a:srgbClr val="F2F0E9"/>
                </a:solidFill>
                <a:latin typeface="Arial Black"/>
              </a:rPr>
              <a:t>DR. DARA OKAFOR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0428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D6FF3F"/>
                </a:solidFill>
                <a:latin typeface="Consolas"/>
              </a:rPr>
              <a:t>CO-FOUNDER · CHIEF SCIENCE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E96"/>
                </a:solidFill>
                <a:latin typeface="Arial"/>
              </a:rPr>
              <a:t>Biomechanics researcher, 11 years in gait-lab work; led the force-plate program that became KINETIQ's testing standard.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993392"/>
            <a:ext cx="502920" cy="502920"/>
          </a:xfrm>
          <a:prstGeom prst="rect">
            <a:avLst/>
          </a:prstGeom>
          <a:solidFill>
            <a:srgbClr val="D6F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A0A0B"/>
                </a:solidFill>
                <a:latin typeface="Arial Black"/>
              </a:rPr>
              <a:t>JM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20391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 spc="30">
                <a:solidFill>
                  <a:srgbClr val="F2F0E9"/>
                </a:solidFill>
                <a:latin typeface="Arial Black"/>
              </a:rPr>
              <a:t>JONAS MEHTA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230428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D6FF3F"/>
                </a:solidFill>
                <a:latin typeface="Consolas"/>
              </a:rPr>
              <a:t>CO-FOUNDER · HEAD OF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69748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E96"/>
                </a:solidFill>
                <a:latin typeface="Arial"/>
              </a:rPr>
              <a:t>Sprint coach with two national-record athletes; owns the athlete lab program and every product sign-off.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D6FF3F"/>
                </a:solidFill>
                <a:latin typeface="Consolas"/>
              </a:rPr>
              <a:t>ADVISORS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E96"/>
                </a:solidFill>
                <a:latin typeface="Arial"/>
              </a:rPr>
              <a:t>Dr. Elena Ruiz — Dir. Biomechanics, North Pacific University · M. Webb — 2× Olympian, 1500m · K. Sato — ex-Nike APAC supply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224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6FF3F"/>
                </a:solidFill>
                <a:latin typeface="Arial Black"/>
              </a:rP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2519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40">
                <a:solidFill>
                  <a:srgbClr val="9B9E96"/>
                </a:solidFill>
                <a:latin typeface="Consolas"/>
              </a:rPr>
              <a:t>APAC MARKET ENTRY — JAPAN, KOREA, AUSTRALIA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5537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6FF3F"/>
                </a:solidFill>
                <a:latin typeface="Arial Black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58114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40">
                <a:solidFill>
                  <a:srgbClr val="9B9E96"/>
                </a:solidFill>
                <a:latin typeface="Consolas"/>
              </a:rPr>
              <a:t>PORTLAND LAB EXPANSION + 3RD TEST RIG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88289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6FF3F"/>
                </a:solidFill>
                <a:latin typeface="Arial Black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9103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40">
                <a:solidFill>
                  <a:srgbClr val="9B9E96"/>
                </a:solidFill>
                <a:latin typeface="Consolas"/>
              </a:rPr>
              <a:t>WORKING CAPITAL &amp; INVENTORY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50">
                <a:solidFill>
                  <a:srgbClr val="0A0A0B"/>
                </a:solidFill>
                <a:latin typeface="Arial Black"/>
              </a:rPr>
              <a:t>$40M SERIES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5303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F0E9"/>
                </a:solidFill>
                <a:latin typeface="Consolas"/>
              </a:rPr>
              <a:t>Q3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80176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F2F0E9"/>
                </a:solidFill>
                <a:latin typeface="Consolas"/>
              </a:rPr>
              <a:t>CONTACT — PARTNERS@KINETIQ.EXAMPLE · KINETIQ.EXAMPLE/SERIESC · PORTLAND, OREGON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73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D6FF3F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19456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0" i="0">
                <a:solidFill>
                  <a:srgbClr val="F2F0E9"/>
                </a:solidFill>
                <a:latin typeface="Arial Black"/>
              </a:rPr>
              <a:t>MEASURED,</a:t>
            </a:r>
          </a:p>
          <a:p>
            <a:pPr algn="l">
              <a:lnSpc>
                <a:spcPct val="98000"/>
              </a:lnSpc>
            </a:pPr>
            <a:r>
              <a:rPr sz="5400" b="0" i="0">
                <a:solidFill>
                  <a:srgbClr val="D6FF3F"/>
                </a:solidFill>
                <a:latin typeface="Arial Black"/>
              </a:rPr>
              <a:t>NOT MARKETED.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20624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80">
                <a:solidFill>
                  <a:srgbClr val="9B9E96"/>
                </a:solidFill>
                <a:latin typeface="Consolas"/>
              </a:rPr>
              <a:t>KINETIQ LABS INC. — 2141 NW VAUGHN ST, STE 300, PORTLAND, OR 97210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F2F0E9"/>
                </a:solidFill>
                <a:latin typeface="Consolas"/>
              </a:rPr>
              <a:t>PARTNERS@KINETIQ.EXAMPLE · KINETIQ.EXAMPLE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50">
                <a:solidFill>
                  <a:srgbClr val="6E7169"/>
                </a:solidFill>
                <a:latin typeface="Consolas"/>
              </a:rPr>
              <a:t>KINETIQ — SERIES C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E7169"/>
                </a:solidFill>
                <a:latin typeface="Consola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