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(memorize): 'Thank you for the time. In the next fifteen minutes I will show how we turn scattered AI usage into a governed, measurable capability in ninety days - and ask for one decision at the end.' Pause two seconds. Time: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The whole argument in 30 seconds - executives can stop here and decide. Transition: 'Let me show why this is urgent, not just interesting.' Time: 2 min. If the slot shrinks, this slide alone carries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The complication in the room's own language: risk + waste + unprovable value. Transition: 'The opportunity is not more tools - it is organizing the ones that matter.' Time: 2.5 min. Do not name specific tools or teams - keep it systemic, non-accusatory.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Portfolio discipline replaces tool enthusiasm - every use case has a lane, an owner, and a gate. Transition: 'Here is the team structure that runs this portfolio.' Time: 2.5 min. Every example is drawn from work this department already does daily - nothing speculative.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This is a department, not a chatbot collection - the structure mirrors how real IT teams are organized. Transition: 'Autonomy is earned, not granted - here is the ladder.' Time: 2.5 min. This mirrors the six-pillar model already communicated publicly - consistency is deliberate.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Governance is the enabler, not the brake - this is what makes the pilot safe to approve. Transition: 'And here is the tier model that makes governance proportionate.' Time: 2 min. If asked about data safety: data-flow map exists per system before deployment - nothing enters prompts without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Nothing ships outside proportionate governance - the audit trail already exists as a working procedure. Transition: 'What we will actually do in the first 90 days.' Time: 2 min. Aligned with existing group IT risk policy - this skill stack was built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Timeboxed with kill criteria - leadership gets a real decision point at day 90, not a fait accompli. Transition: 'What it costs - and what it returns, stated honestly.' Time: 2.5 min. Kill criteria are pre-agreed: no measured value by day 90 = stop, with lessons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Honest numbers - small incremental cost, reallocated effort, and value stated as ranges with the baseline measured first. Transition: 'The risks, and who owns each one.' Time: 2.5 min. Do NOT oversell here - this slide's honesty is its persuasiveness. If challenged on ROI: 'That is exactly why the baseline is measured before anything scales.'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We have thought about what can go wrong - and who owns each response. Transition: 'Which brings us to the decision.' Time: 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(memorize): 'We are asking for one decision today: approve the 90-day pilot with its governance gates. If the measured value is not there at day 90, we stop and we will have lost little. If it is there, we scale a capability our competitors are already building.' Then stop talking. Silence after the ask is strength. Time: 1 min + Q&amp;A. Q&amp;A prep: see companion document - layered answers for the 8 anticipated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unless asked. Maps to anticipated questions 3, 5, 6 in the Q&amp;A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AI-Staffed IT Department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Readiness &amp; 90-Day Pilot Proposal — Group IT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Scattered AI tools today; one governed capability in 90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>
                <a:solidFill>
                  <a:srgbClr val="EDE6D6"/>
                </a:solidFill>
              </a:rPr>
              <a:t>Where we are: strong delivery discipline; AI tools appearing ad-hoc across teams without coordination or measured value</a:t>
            </a:r>
          </a:p>
          <a:p>
            <a:pPr/>
            <a:r>
              <a:rPr sz="2000">
                <a:solidFill>
                  <a:srgbClr val="EDE6D6"/>
                </a:solidFill>
              </a:rPr>
              <a:t>What is changing: AI adoption is fragmenting - shadow tools, ungoverned data use, value that no one can prove</a:t>
            </a:r>
          </a:p>
          <a:p>
            <a:pPr/>
            <a:r>
              <a:rPr sz="2000" b="1">
                <a:solidFill>
                  <a:srgbClr val="C39A45"/>
                </a:solidFill>
              </a:rPr>
              <a:t>The answer: stand up an AI-staffed IT department as a 90-day pilot - six functions, gated pilots, measured value</a:t>
            </a:r>
          </a:p>
          <a:p>
            <a:pPr/>
            <a:r>
              <a:rPr sz="2000" b="1">
                <a:solidFill>
                  <a:srgbClr val="C39A45"/>
                </a:solidFill>
              </a:rPr>
              <a:t>The ask today: approve the 90-day pilot and its governance gates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usage is growing faster than our ability to govern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800" b="1">
                <a:solidFill>
                  <a:srgbClr val="C39A45"/>
                </a:solidFill>
              </a:rPr>
              <a:t>Where we are</a:t>
            </a:r>
          </a:p>
          <a:p>
            <a:pPr/>
            <a:r>
              <a:rPr sz="1600">
                <a:solidFill>
                  <a:srgbClr val="EDE6D6"/>
                </a:solidFill>
              </a:rPr>
              <a:t>IT delivery is disciplined and trusted</a:t>
            </a:r>
          </a:p>
          <a:p>
            <a:pPr/>
            <a:r>
              <a:rPr sz="1600">
                <a:solidFill>
                  <a:srgbClr val="EDE6D6"/>
                </a:solidFill>
              </a:rPr>
              <a:t>Teams already use AI tools ad-hoc (assistants, code helpers, reporting)</a:t>
            </a:r>
          </a:p>
          <a:p>
            <a:pPr/>
            <a:r>
              <a:rPr sz="1600">
                <a:solidFill>
                  <a:srgbClr val="EDE6D6"/>
                </a:solidFill>
              </a:rPr>
              <a:t>No common standards: no gate, no owner, no measured value</a:t>
            </a:r>
          </a:p>
          <a:p>
            <a:pPr/>
            <a:r>
              <a:rPr sz="1200"/>
              <a:t> </a:t>
            </a:r>
          </a:p>
          <a:p>
            <a:pPr/>
            <a:r>
              <a:rPr sz="1800" b="1">
                <a:solidFill>
                  <a:srgbClr val="C39A45"/>
                </a:solidFill>
              </a:rPr>
              <a:t>What scattered adoption costs</a:t>
            </a:r>
          </a:p>
          <a:p>
            <a:pPr/>
            <a:r>
              <a:rPr sz="1600">
                <a:solidFill>
                  <a:srgbClr val="EDE6D6"/>
                </a:solidFill>
              </a:rPr>
              <a:t>Shadow tools: unknown data handling - a governance exposure</a:t>
            </a:r>
          </a:p>
          <a:p>
            <a:pPr/>
            <a:r>
              <a:rPr sz="1600">
                <a:solidFill>
                  <a:srgbClr val="EDE6D6"/>
                </a:solidFill>
              </a:rPr>
              <a:t>Duplicated spend on overlapping tools</a:t>
            </a:r>
          </a:p>
          <a:p>
            <a:pPr/>
            <a:r>
              <a:rPr sz="1600">
                <a:solidFill>
                  <a:srgbClr val="EDE6D6"/>
                </a:solidFill>
              </a:rPr>
              <a:t>Real value stays anecdotal - cannot be scaled or defended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opportunity: a scored use-case portfolio, not a tool 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runs there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Examples from our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Gate to production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Automate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value, high confidence, human-final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 reporting, meeting summaries, ticket 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Eval pass + named owner + 90-day review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Assist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Copilot-style support, human-in-loop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Code review assist, document drafting,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Extended review checklist + user feedback loop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Explore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Timeboxed experiments with kill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Agentic workflows for PMO data, AI ops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Kill or graduate at 90 days - no extensions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operating model: six functions staffed by AI agents, led as a real team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61257">
                <a:tc>
                  <a:txBody>
                    <a:bodyPr/>
                    <a:lstStyle/>
                    <a:p>
                      <a: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the agents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How Shams leads it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Business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Solution design aligned to business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Sets direction, reviews designs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Business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Requirements, process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Reviews quality of questions asked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Application build, tests,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Reviews code and delivery gates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Backend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Services, data,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Reviews reliability and cost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support, ticket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Reviews resolution quality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r>
                        <a:t>IT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Infrastructure, monitoring,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Reviews reports, grants autonomy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Autonomy is earned in steps, with gates at every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1">
                <a:solidFill>
                  <a:srgbClr val="17263B"/>
                </a:solidFill>
              </a:rPr>
              <a:t>Every irreversible action passes a human gate - always</a:t>
            </a:r>
          </a:p>
          <a:p>
            <a:pPr/>
            <a:r>
              <a:rPr sz="1600">
                <a:solidFill>
                  <a:srgbClr val="5A6B80"/>
                </a:solidFill>
              </a:rPr>
              <a:t>Red lines from day one: no autonomous spend, no autonomous messages on our behalf, no production changes without approval</a:t>
            </a:r>
          </a:p>
          <a:p>
            <a:pPr/>
            <a:r>
              <a:rPr sz="1600">
                <a:solidFill>
                  <a:srgbClr val="5A6B80"/>
                </a:solidFill>
              </a:rPr>
              <a:t>Autonomy levels are documented, revocable, and logged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834640"/>
            <a:ext cx="2651760" cy="1005840"/>
          </a:xfrm>
          <a:prstGeom prst="rect">
            <a:avLst/>
          </a:prstGeom>
          <a:solidFill>
            <a:srgbClr val="2E5E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1. Draft</a:t>
            </a:r>
          </a:p>
          <a:p>
            <a:r>
              <a:t>for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2834640"/>
            <a:ext cx="2651760" cy="1005840"/>
          </a:xfrm>
          <a:prstGeom prst="rect">
            <a:avLst/>
          </a:prstGeom>
          <a:solidFill>
            <a:srgbClr val="9A783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2. Execute</a:t>
            </a:r>
          </a:p>
          <a:p>
            <a:r>
              <a:t>&amp;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834640"/>
            <a:ext cx="2651760" cy="1005840"/>
          </a:xfrm>
          <a:prstGeom prst="rect">
            <a:avLst/>
          </a:prstGeom>
          <a:solidFill>
            <a:srgbClr val="C39A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Wider</a:t>
            </a:r>
          </a:p>
          <a:p>
            <a:r>
              <a:t>autonomy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2834640"/>
            <a:ext cx="2377440" cy="1005840"/>
          </a:xfrm>
          <a:prstGeom prst="rect">
            <a:avLst/>
          </a:prstGeom>
          <a:solidFill>
            <a:srgbClr val="0B15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Full autonomy</a:t>
            </a:r>
          </a:p>
          <a:p>
            <a:r>
              <a:t>only by decision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risk tiers, proportionate controls - aligned with group IT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5A6B80"/>
                </a:solidFill>
              </a:rPr>
              <a:t>Every system: owner, tier, gate status, review date - auditable in 5 minutes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Controls before deployment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Tier 1 -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drafts, summaries, no personal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Self-serve; monthly spot-audit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Tier 2 -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Customer-visible text, internal personal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 before launch, eval pass, named owner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Tier 3 -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Decisions affecting people/finance, external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review, data assessment, human approval gate, incident runbook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90-day plan: three phases, each ending at a decision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17263B"/>
                </a:solidFill>
              </a:rPr>
              <a:t>Foundation (0-30): baseline measurement, use-case scoring, agent setup, governance pack signed</a:t>
            </a:r>
          </a:p>
          <a:p>
            <a:pPr/>
            <a:r>
              <a:rPr sz="1600">
                <a:solidFill>
                  <a:srgbClr val="17263B"/>
                </a:solidFill>
              </a:rPr>
              <a:t>Gated pilots (31-60): 2-3 use cases live (status reporting, meeting intelligence, ticket triage) with weekly value tracking</a:t>
            </a:r>
          </a:p>
          <a:p>
            <a:pPr/>
            <a:r>
              <a:rPr sz="1600">
                <a:solidFill>
                  <a:srgbClr val="17263B"/>
                </a:solidFill>
              </a:rPr>
              <a:t>Review &amp; decision (61-90): measured results vs baseline; scale/adjust/stop recommendation to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1097280"/>
          </a:xfrm>
          <a:prstGeom prst="rect">
            <a:avLst/>
          </a:prstGeom>
          <a:solidFill>
            <a:srgbClr val="2E5E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Days 0-30</a:t>
            </a:r>
          </a:p>
          <a:p>
            <a:r>
              <a:t>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651760"/>
            <a:ext cx="4023360" cy="1097280"/>
          </a:xfrm>
          <a:prstGeom prst="rect">
            <a:avLst/>
          </a:prstGeom>
          <a:solidFill>
            <a:srgbClr val="9A783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Days 31-60</a:t>
            </a:r>
          </a:p>
          <a:p>
            <a:r>
              <a:t>Gated pilots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651760"/>
            <a:ext cx="4206240" cy="1097280"/>
          </a:xfrm>
          <a:prstGeom prst="rect">
            <a:avLst/>
          </a:prstGeom>
          <a:solidFill>
            <a:srgbClr val="C39A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Days 61-90</a:t>
            </a:r>
          </a:p>
          <a:p>
            <a:r>
              <a:t>Review &amp;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is mostly reallocated time; value is measured, not promised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500" i="1">
                <a:solidFill>
                  <a:srgbClr val="5A6B80"/>
                </a:solidFill>
              </a:rPr>
              <a:t>All figures are estimates with stated assumptions; the pilot's first act is measuring the real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Agent platform (already in use)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SAR 0 incremental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Existing Hermes setup, already owned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AI tooling licenses (pilot scope)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SAR 2-4k /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range for team AI tooling - to be confirmed in sourcing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Staff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~2 FTE-equivalent, reallocated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From current reporting/support workload, not new headcount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Expected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 30-50% time reduction on pilot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ASSUMPTION - baseline measured in weeks 1-2; ranges, not promises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 have named owners and mitigations before day 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Data exposure via AI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Tier gates + data-flow maps before any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Governance gate owner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Value stays anecdotal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measured first; value ledger reviewed 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Pilot lead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Team disruption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Assist-first adoption; staff time reallocated, not 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Department lead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Shadow AI continues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Sanctioned path made easier than workaround; quarterly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security liaison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400" b="1">
                <a:solidFill>
                  <a:srgbClr val="EDE6D6"/>
                </a:solidFill>
              </a:rPr>
              <a:t>Approve the 90-day AI department pilot</a:t>
            </a:r>
          </a:p>
          <a:p>
            <a:pPr/>
            <a:r>
              <a:rPr sz="2000">
                <a:solidFill>
                  <a:srgbClr val="C39A45"/>
                </a:solidFill>
              </a:rPr>
              <a:t>With its three governance gates and the day-90 decision point</a:t>
            </a:r>
          </a:p>
          <a:p>
            <a:pPr/>
            <a:r>
              <a:rPr sz="2000" b="1">
                <a:solidFill>
                  <a:srgbClr val="C39A45"/>
                </a:solidFill>
              </a:rPr>
              <a:t>Decision requested today: GO / ADJUST / NO-GO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assumptions, sources, and measurement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17263B"/>
                </a:solidFill>
              </a:rPr>
              <a:t>All financial figures are sourcing-stage estimates; the pilot's first act is baseline measurement</a:t>
            </a:r>
          </a:p>
          <a:p>
            <a:pPr/>
            <a:r>
              <a:rPr sz="1600">
                <a:solidFill>
                  <a:srgbClr val="17263B"/>
                </a:solidFill>
              </a:rPr>
              <a:t>Use-case examples drawn from current department workflows (status reporting, meeting summaries, ticket triage, code review assist)</a:t>
            </a:r>
          </a:p>
          <a:p>
            <a:pPr/>
            <a:r>
              <a:rPr sz="1600">
                <a:solidFill>
                  <a:srgbClr val="17263B"/>
                </a:solidFill>
              </a:rPr>
              <a:t>Governance model aligned with group IT risk and security policy; audit trail per system</a:t>
            </a:r>
          </a:p>
          <a:p>
            <a:pPr/>
            <a:r>
              <a:rPr sz="1600">
                <a:solidFill>
                  <a:srgbClr val="17263B"/>
                </a:solidFill>
              </a:rPr>
              <a:t>Measurement plan: baseline (wk 1-2) -&gt; weekly value tracking -&gt; day-90 review vs baseline</a:t>
            </a:r>
          </a:p>
          <a:p>
            <a:pPr/>
            <a:r>
              <a:rPr sz="1600">
                <a:solidFill>
                  <a:srgbClr val="17263B"/>
                </a:solidFill>
              </a:rPr>
              <a:t>Reference: full procedure stack available - maturity model, governance tiers, pilot gate criteria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