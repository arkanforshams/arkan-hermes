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KSA car rental + leasing market (USD bn) — 7.09% CAGR (Research&amp;Markets 2026–2031)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(USD bn)</c:v>
                </c:pt>
              </c:strCache>
            </c:strRef>
          </c:tx>
          <c:spPr>
            <a:solidFill>
              <a:srgbClr val="0F2A43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2.87</c:v>
                </c:pt>
                <c:pt idx="1">
                  <c:v>3.07</c:v>
                </c:pt>
                <c:pt idx="2">
                  <c:v>3.29</c:v>
                </c:pt>
                <c:pt idx="3">
                  <c:v>3.52</c:v>
                </c:pt>
                <c:pt idx="4">
                  <c:v>3.77</c:v>
                </c:pt>
                <c:pt idx="5">
                  <c:v>4.04</c:v>
                </c:pt>
                <c:pt idx="6">
                  <c:v>4.33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Capability scoring 0–5 (evidence-anchored assessment, 30 Sep 2026)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CarPro</c:v>
                </c:pt>
              </c:strCache>
            </c:strRef>
          </c:tx>
          <c:spPr>
            <a:solidFill>
              <a:srgbClr val="0F2A43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ZATCA readiness</c:v>
                </c:pt>
                <c:pt idx="1">
                  <c:v>Tajeer/Absher</c:v>
                </c:pt>
                <c:pt idx="2">
                  <c:v>Lease depth</c:v>
                </c:pt>
                <c:pt idx="3">
                  <c:v>Shariah flexibility</c:v>
                </c:pt>
                <c:pt idx="4">
                  <c:v>SAMA audit</c:v>
                </c:pt>
                <c:pt idx="5">
                  <c:v>Speed to live</c:v>
                </c:pt>
                <c:pt idx="6">
                  <c:v>Ownership/exit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</c:v>
                </c:pt>
                <c:pt idx="1">
                  <c:v>1.0</c:v>
                </c:pt>
                <c:pt idx="2">
                  <c:v>4.5</c:v>
                </c:pt>
                <c:pt idx="3">
                  <c:v>1.0</c:v>
                </c:pt>
                <c:pt idx="4">
                  <c:v>2.5</c:v>
                </c:pt>
                <c:pt idx="5">
                  <c:v>4.5</c:v>
                </c:pt>
                <c:pt idx="6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Rentey</c:v>
                </c:pt>
              </c:strCache>
            </c:strRef>
          </c:tx>
          <c:spPr>
            <a:solidFill>
              <a:srgbClr val="0E7C7B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ZATCA readiness</c:v>
                </c:pt>
                <c:pt idx="1">
                  <c:v>Tajeer/Absher</c:v>
                </c:pt>
                <c:pt idx="2">
                  <c:v>Lease depth</c:v>
                </c:pt>
                <c:pt idx="3">
                  <c:v>Shariah flexibility</c:v>
                </c:pt>
                <c:pt idx="4">
                  <c:v>SAMA audit</c:v>
                </c:pt>
                <c:pt idx="5">
                  <c:v>Speed to live</c:v>
                </c:pt>
                <c:pt idx="6">
                  <c:v>Ownership/exit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1.0</c:v>
                </c:pt>
                <c:pt idx="2">
                  <c:v>1.5</c:v>
                </c:pt>
                <c:pt idx="3">
                  <c:v>1.0</c:v>
                </c:pt>
                <c:pt idx="4">
                  <c:v>1.0</c:v>
                </c:pt>
                <c:pt idx="5">
                  <c:v>3.5</c:v>
                </c:pt>
                <c:pt idx="6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Annata A365</c:v>
                </c:pt>
              </c:strCache>
            </c:strRef>
          </c:tx>
          <c:spPr>
            <a:solidFill>
              <a:srgbClr val="D9A441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ZATCA readiness</c:v>
                </c:pt>
                <c:pt idx="1">
                  <c:v>Tajeer/Absher</c:v>
                </c:pt>
                <c:pt idx="2">
                  <c:v>Lease depth</c:v>
                </c:pt>
                <c:pt idx="3">
                  <c:v>Shariah flexibility</c:v>
                </c:pt>
                <c:pt idx="4">
                  <c:v>SAMA audit</c:v>
                </c:pt>
                <c:pt idx="5">
                  <c:v>Speed to live</c:v>
                </c:pt>
                <c:pt idx="6">
                  <c:v>Ownership/exit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3.0</c:v>
                </c:pt>
                <c:pt idx="1">
                  <c:v>1.0</c:v>
                </c:pt>
                <c:pt idx="2">
                  <c:v>5.0</c:v>
                </c:pt>
                <c:pt idx="3">
                  <c:v>3.0</c:v>
                </c:pt>
                <c:pt idx="4">
                  <c:v>4.5</c:v>
                </c:pt>
                <c:pt idx="5">
                  <c:v>2.0</c:v>
                </c:pt>
                <c:pt idx="6">
                  <c:v>3.5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Local SaaS</c:v>
                </c:pt>
              </c:strCache>
            </c:strRef>
          </c:tx>
          <c:spPr>
            <a:solidFill>
              <a:srgbClr val="64748B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ZATCA readiness</c:v>
                </c:pt>
                <c:pt idx="1">
                  <c:v>Tajeer/Absher</c:v>
                </c:pt>
                <c:pt idx="2">
                  <c:v>Lease depth</c:v>
                </c:pt>
                <c:pt idx="3">
                  <c:v>Shariah flexibility</c:v>
                </c:pt>
                <c:pt idx="4">
                  <c:v>SAMA audit</c:v>
                </c:pt>
                <c:pt idx="5">
                  <c:v>Speed to live</c:v>
                </c:pt>
                <c:pt idx="6">
                  <c:v>Ownership/exit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5.0</c:v>
                </c:pt>
                <c:pt idx="1">
                  <c:v>5.0</c:v>
                </c:pt>
                <c:pt idx="2">
                  <c:v>2.5</c:v>
                </c:pt>
                <c:pt idx="3">
                  <c:v>2.0</c:v>
                </c:pt>
                <c:pt idx="4">
                  <c:v>2.5</c:v>
                </c:pt>
                <c:pt idx="5">
                  <c:v>5.0</c:v>
                </c:pt>
                <c:pt idx="6">
                  <c:v>2.5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Custom</c:v>
                </c:pt>
              </c:strCache>
            </c:strRef>
          </c:tx>
          <c:spPr>
            <a:solidFill>
              <a:srgbClr val="1E7A46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ZATCA readiness</c:v>
                </c:pt>
                <c:pt idx="1">
                  <c:v>Tajeer/Absher</c:v>
                </c:pt>
                <c:pt idx="2">
                  <c:v>Lease depth</c:v>
                </c:pt>
                <c:pt idx="3">
                  <c:v>Shariah flexibility</c:v>
                </c:pt>
                <c:pt idx="4">
                  <c:v>SAMA audit</c:v>
                </c:pt>
                <c:pt idx="5">
                  <c:v>Speed to live</c:v>
                </c:pt>
                <c:pt idx="6">
                  <c:v>Ownership/exit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5.0</c:v>
                </c:pt>
                <c:pt idx="1">
                  <c:v>5.0</c:v>
                </c:pt>
                <c:pt idx="2">
                  <c:v>4.0</c:v>
                </c:pt>
                <c:pt idx="3">
                  <c:v>5.0</c:v>
                </c:pt>
                <c:pt idx="4">
                  <c:v>4.5</c:v>
                </c:pt>
                <c:pt idx="5">
                  <c:v>1.5</c:v>
                </c:pt>
                <c:pt idx="6">
                  <c:v>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total /5</c:v>
                </c:pt>
              </c:strCache>
            </c:strRef>
          </c:tx>
          <c:spPr>
            <a:solidFill>
              <a:srgbClr val="0F2A43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CarPro</c:v>
                </c:pt>
                <c:pt idx="1">
                  <c:v>Rentey</c:v>
                </c:pt>
                <c:pt idx="2">
                  <c:v>A365</c:v>
                </c:pt>
                <c:pt idx="3">
                  <c:v>Local SaaS</c:v>
                </c:pt>
                <c:pt idx="4">
                  <c:v>Custom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2.65</c:v>
                </c:pt>
                <c:pt idx="1">
                  <c:v>1.45</c:v>
                </c:pt>
                <c:pt idx="2">
                  <c:v>3.42</c:v>
                </c:pt>
                <c:pt idx="3">
                  <c:v>3.35</c:v>
                </c:pt>
                <c:pt idx="4">
                  <c:v>3.85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Cumulative TCO, 200-vehicle operator (est., SAR 000s)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Niche SaaS (CarPro/Rentey class)</c:v>
                </c:pt>
              </c:strCache>
            </c:strRef>
          </c:tx>
          <c:spPr>
            <a:solidFill>
              <a:srgbClr val="0F2A43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280</c:v>
                </c:pt>
                <c:pt idx="1">
                  <c:v>460</c:v>
                </c:pt>
                <c:pt idx="2">
                  <c:v>660</c:v>
                </c:pt>
                <c:pt idx="3">
                  <c:v>880</c:v>
                </c:pt>
                <c:pt idx="4">
                  <c:v>1120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 build (incl. 17% maint.)</c:v>
                </c:pt>
              </c:strCache>
            </c:strRef>
          </c:tx>
          <c:spPr>
            <a:solidFill>
              <a:srgbClr val="0E7C7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900</c:v>
                </c:pt>
                <c:pt idx="1">
                  <c:v>1330</c:v>
                </c:pt>
                <c:pt idx="2">
                  <c:v>1750</c:v>
                </c:pt>
                <c:pt idx="3">
                  <c:v>2170</c:v>
                </c:pt>
                <c:pt idx="4">
                  <c:v>2590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Annata A365 (D365 + impl.)</c:v>
                </c:pt>
              </c:strCache>
            </c:strRef>
          </c:tx>
          <c:spPr>
            <a:solidFill>
              <a:srgbClr val="D9A441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1450</c:v>
                </c:pt>
                <c:pt idx="1">
                  <c:v>2050</c:v>
                </c:pt>
                <c:pt idx="2">
                  <c:v>2650</c:v>
                </c:pt>
                <c:pt idx="3">
                  <c:v>3250</c:v>
                </c:pt>
                <c:pt idx="4">
                  <c:v>3850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47088"/>
            <a:ext cx="14630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Segoe UI"/>
              </a:rPr>
              <a:t>ARKAN RESEARCH  ·  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Leasing Platform Decision — Saudi Arabia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9C9D6"/>
                </a:solidFill>
                <a:latin typeface="Segoe UI"/>
              </a:rPr>
              <a:t>SaaS vs ERP platform vs custom build — graphical &amp; tabular comparison, weighted scorecard, and reasoned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06440"/>
            <a:ext cx="10515600" cy="18288"/>
          </a:xfrm>
          <a:prstGeom prst="rect">
            <a:avLst/>
          </a:prstGeom>
          <a:solidFill>
            <a:srgbClr val="2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FA6BA"/>
                </a:solidFill>
                <a:latin typeface="Segoe UI"/>
              </a:rPr>
              <a:t>30 September 2026  ·  Prepared by Basir, ARKAN Research  ·  Verified against cited public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The right answer depends on which leasing business you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481328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3611880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7373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F2A43"/>
                </a:solidFill>
                <a:latin typeface="Segoe UI"/>
              </a:rPr>
              <a:t>Local Saudi-native SaaS /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2395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SHORT-TERM RENTAL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743200"/>
            <a:ext cx="33649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egoe UI"/>
              </a:rPr>
              <a:t>Tajeer + ZATCA native; Absher e-sign; live in weeks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481328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3672" y="1481328"/>
            <a:ext cx="3611880" cy="14630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7373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F2A43"/>
                </a:solidFill>
                <a:latin typeface="Segoe UI"/>
              </a:rPr>
              <a:t>Annata A365 / CarPro LeaseProXL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395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A43"/>
                </a:solidFill>
                <a:latin typeface="Segoe UI"/>
              </a:rPr>
              <a:t>CORPORATE + FINANCE LEASING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743200"/>
            <a:ext cx="33649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egoe UI"/>
              </a:rPr>
              <a:t>ERP-grade lifecycle &amp; SAMA audit fit; decide via 6-week RFP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3" y="1481328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3" y="1481328"/>
            <a:ext cx="3611880" cy="1463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7373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F2A43"/>
                </a:solidFill>
                <a:latin typeface="Segoe UI"/>
              </a:rPr>
              <a:t>Custom build (gated)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395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A441"/>
                </a:solidFill>
                <a:latin typeface="Segoe UI"/>
              </a:rPr>
              <a:t>LEASING AS DIFFERENTIATOR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743200"/>
            <a:ext cx="33649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egoe UI"/>
              </a:rPr>
              <a:t>Highest weighted score (3.85/5) — only with a funded 3-year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0332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Weighted scorecard (corporate-leasing weights): Custom 3.85 · Annata A365 3.42 · Local SaaS 3.35 · CarPro 2.65 · Rentey 1.45 — yet the recommendation is NOT 'build first': custom owes its lead to long-horizon criteria that only pay off if a product team is funded for 3+ years.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•  Regulatory gates (ZATCA Phase 2, Tajeer, SAMA) are the decisive filter — no international option clears all of them natively.</a:t>
            </a:r>
          </a:p>
          <a:p>
            <a:pPr algn="l"/>
            <a:r>
              <a:rPr sz="1300" b="0" i="0">
                <a:solidFill>
                  <a:srgbClr val="C0392B"/>
                </a:solidFill>
                <a:latin typeface="Segoe UI"/>
              </a:rPr>
              <a:t>•  RED FLAG — CarPro is mid-merger (Emotion, Mar 2025): written Rentway-vs-CarPro roadmap required. Rentey: thinnest evidence base — excluded pending references.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Saudi rental-leasing demand compounds at ~7–9% under Vision 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417320"/>
          <a:ext cx="72237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463040"/>
            <a:ext cx="3886200" cy="4160520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</a:rPr>
              <a:t>WHAT'S DRIVING IT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SAR 7.5bn (FY23) → 11.7bn (FY28E), 9.2% CAGR — Aljazira Capital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Long-term leasing growing faster than short-term; corporate + government fleet outsourcing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Fragmented: top-3 players hold only ~25% share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Segoe UI"/>
              </a:rPr>
              <a:t>•  Regional-HQ mandate (2024) → new corporate lease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REGULATORY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Three regulatory gates decide the winner: ZATCA, Tajeer, SAMA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13385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09728" cy="7863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A43"/>
                </a:solidFill>
                <a:latin typeface="Segoe UI"/>
              </a:rPr>
              <a:t>ZATCA — Fatoora 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72184"/>
            <a:ext cx="74980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Segoe UI"/>
              </a:rPr>
              <a:t>API clearance + 24-hour reporting, cryptographic stamp &amp; QR. Wave threshold now SAR 1M turnover; Wave 24 (SAR 375K) cited for 2026 — verify with ZATCA.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11338560" cy="786384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313432"/>
            <a:ext cx="109728" cy="78638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A43"/>
                </a:solidFill>
                <a:latin typeface="Segoe UI"/>
              </a:rPr>
              <a:t>Tajeer — Transport General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368296"/>
            <a:ext cx="74980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Segoe UI"/>
              </a:rPr>
              <a:t>Mandatory unified e-contract for car rental: 1.77M contracts issued in Q4 2025 alone. API setup SAR 15,000 + ~SAR 2.25/tx; renter e-signs via Absher OTP.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09544"/>
            <a:ext cx="113385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09544"/>
            <a:ext cx="109728" cy="7863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82696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A43"/>
                </a:solidFill>
                <a:latin typeface="Segoe UI"/>
              </a:rPr>
              <a:t>SAMA — Finance Leasing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64408"/>
            <a:ext cx="74980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Segoe UI"/>
              </a:rPr>
              <a:t>Finance lease is a licensed activity (Finance Companies Control Law + Finance Lease Law M/48): capital, governance, cloud outsourcing non-objection.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105656"/>
            <a:ext cx="11338560" cy="786384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105656"/>
            <a:ext cx="109728" cy="78638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7880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A43"/>
                </a:solidFill>
                <a:latin typeface="Segoe UI"/>
              </a:rPr>
              <a:t>PDPL + sector residency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160520"/>
            <a:ext cx="74980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Segoe UI"/>
              </a:rPr>
              <a:t>GDPR-style law, but SAMA/CST/NCA rules keep regulated financial workloads effectively in-Kingdom — confirm hosting explicitly with any SaaS.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01768"/>
            <a:ext cx="113385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5001768"/>
            <a:ext cx="109728" cy="7863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74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A43"/>
                </a:solidFill>
                <a:latin typeface="Segoe UI"/>
              </a:rPr>
              <a:t>Language &amp; 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056632"/>
            <a:ext cx="74980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Segoe UI"/>
              </a:rPr>
              <a:t>Arabic-first contracts and branch UI; Absher/NAFATH flow is the Tajeer completion path.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943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A43"/>
                </a:solidFill>
                <a:latin typeface="Segoe UI"/>
              </a:rPr>
              <a:t>Consequence: international platforms clear these gates only with middleware — local SaaS and custom builds clear them natively.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017520"/>
            <a:ext cx="14630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PART II — The Four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9C9D6"/>
                </a:solidFill>
                <a:latin typeface="Segoe UI"/>
              </a:rPr>
              <a:t>Who they are, what they prove, what to verify — evidence standard: 2+ independent sources per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OPTION A · NICHE LEASING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CarPro (now Emotion) — deepest lease pedigree, now mid-merger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6949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•  Founded 1992 · HQ Amsterdam · rental + leasing + subscription modules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•  Clients incl. Hertz, Europcar, LeasePlan, VW Financial Services (vendor claim); scale claim: 85+ countries, 1M+ vehicles, 500+ partners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•  LeaseProXL: lease quotations, flexible invoicing (corporate/combined), AR + aging + collections, cashiers, multi-currency, fleet status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C0392B"/>
                </a:solidFill>
                <a:latin typeface="Segoe UI"/>
              </a:rPr>
              <a:t>•  RED FLAG — ownership churn: sold to Ibérica (Jul 2020) → merged with Jimpisoft/Rentway into Emotion Mobility (Mar 2025); consolidation underway</a:t>
            </a:r>
          </a:p>
          <a:p>
            <a:pPr algn="l"/>
            <a:r>
              <a:rPr sz="1300" b="1" i="0">
                <a:solidFill>
                  <a:srgbClr val="C0392B"/>
                </a:solidFill>
                <a:latin typeface="Segoe UI"/>
              </a:rPr>
              <a:t>•  RED FLAG — no native ZATCA/Tajeer/Absher layer; requires middleware or a local integrator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81328"/>
            <a:ext cx="4114800" cy="4023360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664208"/>
            <a:ext cx="3703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</a:rPr>
              <a:t>RFP DISQUALIFIERS TO TEST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Written product roadmap: Rentway vs CarPro — which line survives?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Two reference customers of similar fleet size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ZATCA middleware plan + cost, in writing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Segoe UI"/>
              </a:rPr>
              <a:t>•  Data-egress clause and hosting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OPTION B · NICHE RENTAL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Rentey (Qoad) — promising SaaS, but the thinnest evidence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6949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•  All-in-one rental platform: reservations + payments, built-in CRM, fleet optimization, analytics, mobile access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•  Part of Qoad product family (QFleets for corporate car sharing) — vertical SaaS vendor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C0392B"/>
                </a:solidFill>
                <a:latin typeface="Segoe UI"/>
              </a:rPr>
              <a:t>•  RED FLAG — public footprint limited to a single vendor page: no verifiable references, funding, or headcount found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C0392B"/>
                </a:solidFill>
                <a:latin typeface="Segoe UI"/>
              </a:rPr>
              <a:t>•  RED FLAG — no public evidence of ZATCA, Tajeer, or SAMA awareness; Arabic status unknown</a:t>
            </a:r>
          </a:p>
          <a:p>
            <a:pPr algn="l"/>
            <a:r>
              <a:rPr sz="1300" b="0" i="0">
                <a:solidFill>
                  <a:srgbClr val="1F2937"/>
                </a:solidFill>
                <a:latin typeface="Segoe UI"/>
              </a:rPr>
              <a:t>•  Comparably-positioned tools exist (Rently, Renthub) — Rentey must earn its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81328"/>
            <a:ext cx="4114800" cy="4023360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664208"/>
            <a:ext cx="3703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</a:rPr>
              <a:t>RE-INSTATEMENT BAR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2+ same-size operator references, in KSA/GCC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Live sandbox on our data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ZATCA/Tajeer statement in writing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Segoe UI"/>
              </a:rPr>
              <a:t>•  Financial viability evidence (funding/size)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OPTION C · ERP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Annata A365 — ERP-grade leasing on Dynamics 365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6949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•  Founded 2001 · HQ Kópavogur, Iceland · 15 offices, 4 continents · Microsoft Inner Circle ISV (top 1% of Dynamics partners)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•  A365 = ERP + CRM + DMS on Dynamics 365 F&amp;O; Rental &amp; Subscription modules cover cradle-to-grave vehicle lifecycle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•  Enterprise integration: GL, fixed assets, audit trails, Copilot/Azure; MEA delivery via partners (SHEA, Confiz — Sep 2025)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•  D365 ships a Saudi ZATCA localization (CSID onboarding) — integration work sits with the implementer</a:t>
            </a:r>
          </a:p>
          <a:p>
            <a:pPr algn="l"/>
            <a:r>
              <a:rPr sz="1300" b="1" i="0">
                <a:solidFill>
                  <a:srgbClr val="C0392B"/>
                </a:solidFill>
                <a:latin typeface="Segoe UI"/>
              </a:rPr>
              <a:t>•  CAUTION — no Riyadh office; delivery quality depends on the local partner chosen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81328"/>
            <a:ext cx="4114800" cy="4023360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664208"/>
            <a:ext cx="3703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</a:rPr>
              <a:t>VERIFY IN RFP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KSA D365 e-invoicing reference implementations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In-Kingdom hosting posture (Azure region)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Named Saudi delivery team, not fly-in model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Segoe UI"/>
              </a:rPr>
              <a:t>•  Ijara-compatible contract configuration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OPTION D · GROUND-UP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Custom build — total control and Saudi-native compliance, at a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 Control: own schema, own roadmap, ijara-compatible contract modelling, no per-seat licence tax, exit on your terms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 Compliance-native from day one: ZATCA Phase 2 APIs, Tajeer + Absher/NAFATH, Arabic-first UI, PDPL in-Kingdom hosting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1F2937"/>
                </a:solidFill>
                <a:latin typeface="Segoe UI"/>
              </a:rPr>
              <a:t>•  TCO logic: front-loaded build, flattening curve ONLY if maintained (15–20%/yr of build) by a durable team — else it decays into legacy</a:t>
            </a:r>
          </a:p>
          <a:p>
            <a:pPr algn="l">
              <a:spcAft>
                <a:spcPts val="1100"/>
              </a:spcAft>
            </a:pPr>
            <a:r>
              <a:rPr sz="1400" b="1" i="0">
                <a:solidFill>
                  <a:srgbClr val="C0392B"/>
                </a:solidFill>
                <a:latin typeface="Segoe UI"/>
              </a:rPr>
              <a:t>•  Reality: a leasing core (contracts, SAMA reporting, fleet lifecycle, billing) is a multi-million-SAR, 6–12+ month programme — generic ERP build figures do not transfer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Segoe UI"/>
              </a:rPr>
              <a:t>•  Risk swap: vendor-dependence disappears; team/key-person (bus factor) risk appears — keep 2+ owners on every core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CUSTOM BUILD · BENEFITS &amp; PRICE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Why a custom build earns its slot — six benefits, priced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3639312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91440" cy="19019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A43"/>
                </a:solidFill>
                <a:latin typeface="Segoe UI"/>
              </a:rPr>
              <a:t>1 · Compliance-native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364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1F2937"/>
                </a:solidFill>
                <a:latin typeface="Segoe UI"/>
              </a:rPr>
              <a:t>ZATCA Phase 2 + Tajeer + Absher/NAFATH built in — no middleware, no third-party integration tax. Faster, safer go-live.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417320"/>
            <a:ext cx="3639312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417320"/>
            <a:ext cx="91440" cy="190195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5270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A43"/>
                </a:solidFill>
                <a:latin typeface="Segoe UI"/>
              </a:rPr>
              <a:t>2 · Shariah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965960"/>
            <a:ext cx="3364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1F2937"/>
                </a:solidFill>
                <a:latin typeface="Segoe UI"/>
              </a:rPr>
              <a:t>Ijara ownership-transfer schedules, penalty-free late terms, per-contract structuring — not configurable at any packaged vendor.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417320"/>
            <a:ext cx="3639312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417320"/>
            <a:ext cx="91440" cy="19019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5270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A43"/>
                </a:solidFill>
                <a:latin typeface="Segoe UI"/>
              </a:rPr>
              <a:t>3 · No licence tax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65960"/>
            <a:ext cx="3364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1F2937"/>
                </a:solidFill>
                <a:latin typeface="Segoe UI"/>
              </a:rPr>
              <a:t>40 active users ≈ SAR 1.1M+ licence spend avoided over 5 yrs (est.); costs scale with compute, not headcount.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502152"/>
            <a:ext cx="3639312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502152"/>
            <a:ext cx="91440" cy="190195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118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A43"/>
                </a:solidFill>
                <a:latin typeface="Segoe UI"/>
              </a:rPr>
              <a:t>4 · Data sovereignty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50791"/>
            <a:ext cx="3364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1F2937"/>
                </a:solidFill>
                <a:latin typeface="Segoe UI"/>
              </a:rPr>
              <a:t>Own schema + in-Kingdom hosting choice → PDPL/SAMA posture you control; clean full-fidelity export, forever.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502152"/>
            <a:ext cx="3639312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502152"/>
            <a:ext cx="91440" cy="19019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6118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A43"/>
                </a:solidFill>
                <a:latin typeface="Segoe UI"/>
              </a:rPr>
              <a:t>5 · Roadmap sovereignty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050791"/>
            <a:ext cx="3364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1F2937"/>
                </a:solidFill>
                <a:latin typeface="Segoe UI"/>
              </a:rPr>
              <a:t>Features land when YOU need them — eliminates vendor roadmap, renewal (9–12%/yr) and merger risk (see CarPro→Emotion).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502152"/>
            <a:ext cx="3639312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47304" y="3502152"/>
            <a:ext cx="91440" cy="190195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36118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A43"/>
                </a:solidFill>
                <a:latin typeface="Segoe UI"/>
              </a:rPr>
              <a:t>6 · AI &amp; data moat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4050791"/>
            <a:ext cx="3364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1F2937"/>
                </a:solidFill>
                <a:latin typeface="Segoe UI"/>
              </a:rPr>
              <a:t>Pricing / utilization / risk models trained on your fleet data — proprietary advantage no packaged system can match.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623560"/>
            <a:ext cx="11338560" cy="713232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05856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A4F0B"/>
                </a:solidFill>
                <a:latin typeface="Segoe UI"/>
              </a:rPr>
              <a:t>THE PRICE OF OWNERSHIP — SAR 2.5–3.5M build + 15–20%/yr upkeep · 6–12+ months to live · a funded 3-year product team · phased MVP behind a capability gate. Custom wins the long game only under these conditions.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COMPARISON · 11 DIMENSIONS × 5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Capability matrix — no option clears every Saudi gate natively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11338560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32918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CarPro LeaseProXL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Rentey (Qoad)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Annata A365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Local SaaS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Custom build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ZATCA Phase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Middleware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Unknown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Via D365 SA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Native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Native (build)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Tajeer + Absher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Not native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Unknown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Not native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Native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Native (build)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Finance-lease depth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LeaseProXL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Rental focus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Full lifecycle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Rental-grade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As designed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Ijara / Shariah config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Configurable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Usually no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Full control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SAMA audit fit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ERP-grade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If designed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Arabic/RTL + NAFATH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Unknown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D365 multi-lang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Native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Native (build)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Time to go-live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4–8 wks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Unknown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3–6+ months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2–8 weeks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6–12+ months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5-yr TCO shape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Rises (seats)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Rises (seats)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High but flatter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Rises (sub)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Flattens if run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Exit / lock-in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Untested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Untested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D365 export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SaaS terms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Own schema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In-Kingdom hosting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Ask vendor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Ask vendor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Azure — verify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Confirm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Your control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A6B7B"/>
                </a:solidFill>
                <a:latin typeface="Segoe UI"/>
              </a:rPr>
              <a:t>'Unknown' = could not verify publicly (documented gap). Azure KSA-region availability to be verified with Microsoft at RFP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COMPARISON · UNWEIGHTED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Capability profiles — strengths differ; verdict depends on 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371600"/>
          <a:ext cx="11338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DECISION MODEL · CORPORATE-LEASING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Weighted scorecard — Custom leads numerically, execution risk decides otherwise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17320"/>
          <a:ext cx="6903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620"/>
                <a:gridCol w="1150620"/>
                <a:gridCol w="1150620"/>
                <a:gridCol w="1150620"/>
                <a:gridCol w="1150620"/>
                <a:gridCol w="1150620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Criterion (weight)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CarPro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Rentey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A365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Local SaaS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Custom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egoe UI"/>
                        </a:rPr>
                        <a:t>Regulatory readiness — 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3.00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egoe UI"/>
                        </a:rPr>
                        <a:t>Lease lifecycle depth — 20%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4.50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1.50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4.00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egoe UI"/>
                        </a:rPr>
                        <a:t>Enterprise finance &amp; SAMA — 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4.50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4.50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egoe UI"/>
                        </a:rPr>
                        <a:t>5-year TCO — 15%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2.00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1.50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egoe UI"/>
                        </a:rPr>
                        <a:t>Speed to value — 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4.50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3.50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2.00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1.50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egoe UI"/>
                        </a:rPr>
                        <a:t>Ownership &amp; exit — 10%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2.00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3.50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EA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egoe UI"/>
                        </a:rPr>
                        <a:t>Shariah flexibility — 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3.00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2.00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egoe U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WEIGHTED TOTAL /5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A441"/>
                          </a:solidFill>
                          <a:latin typeface="Segoe UI"/>
                        </a:rPr>
                        <a:t>2.65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A441"/>
                          </a:solidFill>
                          <a:latin typeface="Segoe UI"/>
                        </a:rPr>
                        <a:t>1.45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A441"/>
                          </a:solidFill>
                          <a:latin typeface="Segoe UI"/>
                        </a:rPr>
                        <a:t>3.42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A441"/>
                          </a:solidFill>
                          <a:latin typeface="Segoe UI"/>
                        </a:rPr>
                        <a:t>3.35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A441"/>
                          </a:solidFill>
                          <a:latin typeface="Segoe UI"/>
                        </a:rPr>
                        <a:t>3.85</a:t>
                      </a:r>
                    </a:p>
                  </a:txBody>
                  <a:tcPr marL="54864" marR="54864" marT="18288" marB="18288" anchor="ctr">
                    <a:solidFill>
                      <a:srgbClr val="0F2A4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98079" y="1417320"/>
          <a:ext cx="42976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89788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Segoe UI"/>
              </a:rPr>
              <a:t>Custom's lead comes from regulatory, ownership and Shariah criteria — but it carries the two lowest individual scores (speed 1.5, 5-yr TCO 1.5). A365 is the strongest BUY; Custom is the strongest STRATEGY if the 3-year team test passes.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TCO MODEL 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Illustrative 5-year cumulative TCO — SaaS compounds, custom flattens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371600"/>
          <a:ext cx="113385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532120"/>
            <a:ext cx="11338560" cy="658368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1441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4F0B"/>
                </a:solidFill>
                <a:latin typeface="Segoe UI"/>
              </a:rPr>
              <a:t>ESTIMATE — order of magnitude only; pricing is quote-based. Excludes migration, integrations, internal staffing. No crossover within 5 yrs at this fleet size; custom crosses SaaS at ~6–8 yrs IF well maintained.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Recommendations — each with its reasoning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2920" cy="7315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179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08176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1" i="0">
                <a:solidFill>
                  <a:srgbClr val="0F2A43"/>
                </a:solidFill>
                <a:latin typeface="Segoe UI"/>
              </a:rPr>
              <a:t>Short-term rental operations → local Saudi-native SaaS or configured local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B7B"/>
                </a:solidFill>
                <a:latin typeface="Segoe UI"/>
              </a:rPr>
              <a:t>Tajeer + ZATCA Phase 2 + Absher are native here; months of middleware delay avoided; switching later is cheap.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176272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176272"/>
            <a:ext cx="502920" cy="7315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225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212848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1" i="0">
                <a:solidFill>
                  <a:srgbClr val="0F2A43"/>
                </a:solidFill>
                <a:latin typeface="Segoe UI"/>
              </a:rPr>
              <a:t>Corporate operational + finance leasing → 6-week RFP: Annata A365 vs CarPro LeaseProXL + one local compliance integrator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42032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B7B"/>
                </a:solidFill>
                <a:latin typeface="Segoe UI"/>
              </a:rPr>
              <a:t>Both are evidence-proven at enterprise scale (A365 weighted 3.42); CarPro only conditional on a written post-merger roadmap.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980944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980944"/>
            <a:ext cx="502920" cy="7315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1272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01752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1" i="0">
                <a:solidFill>
                  <a:srgbClr val="0F2A43"/>
                </a:solidFill>
                <a:latin typeface="Segoe UI"/>
              </a:rPr>
              <a:t>Custom build → keep OPEN but GATED: build only if the RFP shows ≥35% must-have gaps AND a funded 3-year product team is committed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46703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B7B"/>
                </a:solidFill>
                <a:latin typeface="Segoe UI"/>
              </a:rPr>
              <a:t>Custom scores highest (3.85) on long-horizon criteria yet weakest on speed (1.5) and 5-yr TCO (1.5) — the conditions convert potential into value.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85615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785615"/>
            <a:ext cx="502920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9319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822191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1" i="0">
                <a:solidFill>
                  <a:srgbClr val="0F2A43"/>
                </a:solidFill>
                <a:latin typeface="Segoe UI"/>
              </a:rPr>
              <a:t>Rentey → excluded from the shortlist pending verifiable 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151376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B7B"/>
                </a:solidFill>
                <a:latin typeface="Segoe UI"/>
              </a:rPr>
              <a:t>Single-source vendor page; weighted total 1.45/5 with unknown regulatory readiness; re-admit only with 2+ references + sandbox + written ZATCA/Tajeer statement.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590288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590288"/>
            <a:ext cx="502920" cy="7315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7365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626864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1" i="0">
                <a:solidFill>
                  <a:srgbClr val="0F2A43"/>
                </a:solidFill>
                <a:latin typeface="Segoe UI"/>
              </a:rPr>
              <a:t>Any SaaS selection → require in writing: in-Kingdom hosting (PDPL/SAMA), data-egress clauses, renewal caps (≤8%)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956048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B7B"/>
                </a:solidFill>
                <a:latin typeface="Segoe UI"/>
              </a:rPr>
              <a:t>These three terms decide the real 5-year cost and exit freedom — and vendors never volunteer them.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394959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5394959"/>
            <a:ext cx="502920" cy="7315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54126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431536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1" i="0">
                <a:solidFill>
                  <a:srgbClr val="0F2A43"/>
                </a:solidFill>
                <a:latin typeface="Segoe UI"/>
              </a:rPr>
              <a:t>Before any finance-lease module decision → confirm SAMA scope + ijara structuring with counsel and qualified scholars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760720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B7B"/>
                </a:solidFill>
                <a:latin typeface="Segoe UI"/>
              </a:rPr>
              <a:t>Ijara mechanics (ownership transfer, late-term handling) differ from packaged markup modules; Shariah verdicts are not a software setting.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Decision ask — approve scenario-led shortlisting and vendor due diligence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1338560" cy="658368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02920" cy="65836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A441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179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 i="0">
                <a:solidFill>
                  <a:srgbClr val="1F2937"/>
                </a:solidFill>
                <a:latin typeface="Segoe UI"/>
              </a:rPr>
              <a:t>Approve the scenario framework + weighted scorecard as the basis for platform choice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85416"/>
            <a:ext cx="11338560" cy="658368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185416"/>
            <a:ext cx="502920" cy="65836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768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A441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860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 i="0">
                <a:solidFill>
                  <a:srgbClr val="1F2937"/>
                </a:solidFill>
                <a:latin typeface="Segoe UI"/>
              </a:rPr>
              <a:t>Commission the 6-week RFP: Annata A365 + CarPro LeaseProXL + one local compliance integrator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953512"/>
            <a:ext cx="11338560" cy="658368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953512"/>
            <a:ext cx="502920" cy="65836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449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A441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5409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 i="0">
                <a:solidFill>
                  <a:srgbClr val="1F2937"/>
                </a:solidFill>
                <a:latin typeface="Segoe UI"/>
              </a:rPr>
              <a:t>Demand from every vendor: 2+ same-size KSA/GCC references, sandbox PoC on our data, written exit clauses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21608"/>
            <a:ext cx="11338560" cy="658368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721608"/>
            <a:ext cx="502920" cy="65836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813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A441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2219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 i="0">
                <a:solidFill>
                  <a:srgbClr val="1F2937"/>
                </a:solidFill>
                <a:latin typeface="Segoe UI"/>
              </a:rPr>
              <a:t>Verify SAMA scope + ijara structuring with counsel/scholars before any finance-lease module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489704"/>
            <a:ext cx="11338560" cy="658368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489704"/>
            <a:ext cx="502920" cy="65836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5811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A441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9028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 i="0">
                <a:solidFill>
                  <a:srgbClr val="1F2937"/>
                </a:solidFill>
                <a:latin typeface="Segoe UI"/>
              </a:rPr>
              <a:t>Confirm ZATCA wave position + Tajeer scope directly with ZATCA and TGA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257800"/>
            <a:ext cx="11338560" cy="658368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257800"/>
            <a:ext cx="502920" cy="65836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349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A441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5838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 i="0">
                <a:solidFill>
                  <a:srgbClr val="1F2937"/>
                </a:solidFill>
                <a:latin typeface="Segoe UI"/>
              </a:rPr>
              <a:t>Decide build-vs-buy only after RFP results — apply the funded 3-year-team test to the custom option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0350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A43"/>
                </a:solidFill>
                <a:latin typeface="Segoe UI"/>
              </a:rPr>
              <a:t>Decision request at this gate: management approval to run the RFP — no commitment beyond due-diligence spend.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7B"/>
                </a:solidFill>
                <a:latin typeface="Segoe UI"/>
              </a:rPr>
              <a:t>APPENDIX · AS OF 30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43"/>
                </a:solidFill>
                <a:latin typeface="Segoe UI"/>
              </a:rPr>
              <a:t>Appendix — sources, confidence, known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115568"/>
            <a:ext cx="11338560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A43"/>
                </a:solidFill>
                <a:latin typeface="Segoe UI"/>
              </a:rPr>
              <a:t>VENDORS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371600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egoe UI"/>
              </a:rPr>
              <a:t>CarPro: carprosystems.com (LeaseProXL) · CFI Group (2020 sale to Ibérica) · Auto Rental News (Emotion merger, Mar 2025) · CB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A43"/>
                </a:solidFill>
                <a:latin typeface="Segoe UI"/>
              </a:rPr>
              <a:t>VENDORS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74519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egoe UI"/>
              </a:rPr>
              <a:t>Annata: annata.net (contact, Rental solution) · Craft/LinkedIn · SHEA · Confiz (Sep 2025) · Microsoft Learn (D365 KSA e-invoicing)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774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A43"/>
                </a:solidFill>
                <a:latin typeface="Segoe UI"/>
              </a:rPr>
              <a:t>VENDORS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77439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  <a:latin typeface="Segoe UI"/>
              </a:rPr>
              <a:t>Rentey: qoad.com supplier page only — single source, low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8035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A43"/>
                </a:solidFill>
                <a:latin typeface="Segoe UI"/>
              </a:rP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80359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egoe UI"/>
              </a:rPr>
              <a:t>ZATCA detailed guideline (zatca.gov.sa) · SAMA Rulebook (FCCL; Finance Lease M/48) · SDAIA PDPL guide · TGA/Tajeer (tga.gov.sa, elm.sa, rabet.sa)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38327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A43"/>
                </a:solidFill>
                <a:latin typeface="Segoe UI"/>
              </a:rPr>
              <a:t>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83279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egoe UI"/>
              </a:rPr>
              <a:t>Aljazira Capital Transportation Outlook (SAR 7.5bn FY23 → 11.7bn FY28E) · Research&amp;Markets 2026–2031 (USD 3.07bn, 7.09% CAGR)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88619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A43"/>
                </a:solidFill>
                <a:latin typeface="Segoe UI"/>
              </a:rPr>
              <a:t>TCO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886199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egoe UI"/>
              </a:rPr>
              <a:t>ACM 2025 case study (ERP SaaS vs IaaS) · SitePoint custom-vs-OTS · CISIN framework (vendor-adjacent — framing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38911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A43"/>
                </a:solidFill>
                <a:latin typeface="Segoe UI"/>
              </a:rPr>
              <a:t>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389119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  <a:latin typeface="Segoe UI"/>
              </a:rPr>
              <a:t>Rentey references unknown · Tajeer scope for long-term leasing unconfirmed (→ TGA/counsel) · Wave 24 cited Jun 2026 (→ verify with ZATCA) · all pricing quote-based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920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A43"/>
                </a:solidFill>
                <a:latin typeface="Segoe UI"/>
              </a:rPr>
              <a:t>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892039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Segoe UI"/>
              </a:rPr>
              <a:t>HIGH: vendor identities + regulatory framework · MEDIUM: TCO bands (estimates) · LOW: Rentey capability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6235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B7B"/>
                </a:solidFill>
                <a:latin typeface="Segoe UI"/>
              </a:rPr>
              <a:t>Shariah structuring verdicts reserved to qualified scholars; regulatory citations to be confirmed against official Arabic texts. Review: Dec 2026 or upon ZATCA wave change.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B7B"/>
                </a:solidFill>
                <a:latin typeface="Segoe UI"/>
              </a:rPr>
              <a:t>ARKAN Research — Confidential  |  Leasing Platform Decision — KSA  |  30 Sep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B7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Leasing Platform Decision — Saudi Arabia</dc:title>
  <dc:subject/>
  <dc:creator>Basir — ARKAN Research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