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KSA car rental + leasing market size, USD bn (2026–2031, 7.09% CAGR)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(USD bn)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2.87</c:v>
                </c:pt>
                <c:pt idx="1">
                  <c:v>3.07</c:v>
                </c:pt>
                <c:pt idx="2">
                  <c:v>3.29</c:v>
                </c:pt>
                <c:pt idx="3">
                  <c:v>3.52</c:v>
                </c:pt>
                <c:pt idx="4">
                  <c:v>3.77</c:v>
                </c:pt>
                <c:pt idx="5">
                  <c:v>4.04</c:v>
                </c:pt>
                <c:pt idx="6">
                  <c:v>4.33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Capability scoring 0–5 (Basir assessment, verified evidence basis)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CarPro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4.5</c:v>
                </c:pt>
                <c:pt idx="3">
                  <c:v>1.0</c:v>
                </c:pt>
                <c:pt idx="4">
                  <c:v>2.5</c:v>
                </c:pt>
                <c:pt idx="5">
                  <c:v>4.5</c:v>
                </c:pt>
                <c:pt idx="6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Rentey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1.5</c:v>
                </c:pt>
                <c:pt idx="3">
                  <c:v>1.0</c:v>
                </c:pt>
                <c:pt idx="4">
                  <c:v>1.0</c:v>
                </c:pt>
                <c:pt idx="5">
                  <c:v>3.5</c:v>
                </c:pt>
                <c:pt idx="6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Annata A365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3.0</c:v>
                </c:pt>
                <c:pt idx="1">
                  <c:v>1.0</c:v>
                </c:pt>
                <c:pt idx="2">
                  <c:v>5.0</c:v>
                </c:pt>
                <c:pt idx="3">
                  <c:v>3.0</c:v>
                </c:pt>
                <c:pt idx="4">
                  <c:v>4.5</c:v>
                </c:pt>
                <c:pt idx="5">
                  <c:v>2.0</c:v>
                </c:pt>
                <c:pt idx="6">
                  <c:v>3.5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Local SaaS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5.0</c:v>
                </c:pt>
                <c:pt idx="1">
                  <c:v>5.0</c:v>
                </c:pt>
                <c:pt idx="2">
                  <c:v>2.5</c:v>
                </c:pt>
                <c:pt idx="3">
                  <c:v>2.0</c:v>
                </c:pt>
                <c:pt idx="4">
                  <c:v>2.5</c:v>
                </c:pt>
                <c:pt idx="5">
                  <c:v>5.0</c:v>
                </c:pt>
                <c:pt idx="6">
                  <c:v>2.5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Custom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ZATCA readiness</c:v>
                </c:pt>
                <c:pt idx="1">
                  <c:v>Tajeer/Absher</c:v>
                </c:pt>
                <c:pt idx="2">
                  <c:v>Lease depth</c:v>
                </c:pt>
                <c:pt idx="3">
                  <c:v>Shariah flexibility</c:v>
                </c:pt>
                <c:pt idx="4">
                  <c:v>SAMA audit</c:v>
                </c:pt>
                <c:pt idx="5">
                  <c:v>Speed to live</c:v>
                </c:pt>
                <c:pt idx="6">
                  <c:v>Ownership/exit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5.0</c:v>
                </c:pt>
                <c:pt idx="1">
                  <c:v>5.0</c:v>
                </c:pt>
                <c:pt idx="2">
                  <c:v>4.0</c:v>
                </c:pt>
                <c:pt idx="3">
                  <c:v>5.0</c:v>
                </c:pt>
                <c:pt idx="4">
                  <c:v>4.5</c:v>
                </c:pt>
                <c:pt idx="5">
                  <c:v>1.5</c:v>
                </c:pt>
                <c:pt idx="6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Cumulative TCO, 200-vehicle operator (illustrative estimate, SAR 000s)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Niche SaaS (CarPro/Rentey class)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280</c:v>
                </c:pt>
                <c:pt idx="1">
                  <c:v>460</c:v>
                </c:pt>
                <c:pt idx="2">
                  <c:v>660</c:v>
                </c:pt>
                <c:pt idx="3">
                  <c:v>880</c:v>
                </c:pt>
                <c:pt idx="4">
                  <c:v>1120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 build (incl. 17% maint.)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900</c:v>
                </c:pt>
                <c:pt idx="1">
                  <c:v>1330</c:v>
                </c:pt>
                <c:pt idx="2">
                  <c:v>1750</c:v>
                </c:pt>
                <c:pt idx="3">
                  <c:v>2170</c:v>
                </c:pt>
                <c:pt idx="4">
                  <c:v>2590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Annata A365 (D365 + impl.)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1450</c:v>
                </c:pt>
                <c:pt idx="1">
                  <c:v>2050</c:v>
                </c:pt>
                <c:pt idx="2">
                  <c:v>2650</c:v>
                </c:pt>
                <c:pt idx="3">
                  <c:v>3250</c:v>
                </c:pt>
                <c:pt idx="4">
                  <c:v>3850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for internal evaluation. All findings verified against public sources as of 30 Sep 2026; pricing is quote-based and must be validated in RFP.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Answer-first slide. Three scenarios drive three different winners; no vendor clears every Saudi regulatory gate natively.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Research&amp;Markets 2026-2031 report (USD 3.07bn 2026, CAGR 7.09%); Aljazira Capital Transportation Outlook (SAR basis). Growth drivers: tourism 30mn Hajj/Umrah target, Vision 2030 mega-projects, corporate fleet outsourcing.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option that cannot produce ZATCA-compliant invoices and Tajeer-registered contracts on day one shifts work onto your team or blocks go-live. Shariah structuring note: ijara contract mechanics differ from interest-based markup modules — software must model ownership-transfer schedules; verdicts to qualified scholars.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option slide: identity, strengths, red flags. Evidence standard: 2+ independent sources per load-bearing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carprosystems.com (products/leaseproxl, company), CFI Group deal notice 2020, Auto Rental News merger release Mar 2025, CB Insights. Ask in RFP: written Rentway-vs-CarPro roadmap, reference customers of similar fleet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qoad.com/en/products/rentey (vendor page, single source — low confidence). Comparably-positioned tools exist in the same price class (Rently, Renthub); if Rentey cannot evidence Saudi readiness, alternatives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annata.net (contact, solutions/rental), craft.co, LinkedIn, sheaglobal.com, Confiz release Sep 2025, Microsoft Learn D365 Saudi e-invoicing onboarding. Best fit where leasing must integrate with enterprise finance and SAMA-grade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ACM 2025 case study (SaaS vs IaaS ERP TCO), sitepoint custom-vs-OTS analysis, CISIN TCO framework (vendor-adjacent, framing only). Honest test: is leasing logic your differentiator, or is speed to market the differentiator?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Symbols are evidence-verified capability classes, not marketing ticks. 'Unknown' = could not verify publicly (documented gap). Azure KSA region availability to be verified with Microsoft at RFP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Unweighted profile, not a ranking: weights shift by scenario (speed-to-market weights favour Local SaaS; enterprise-finance weights favour A365; long-horizon control weights favour custom). Scores anchored to research evidence, as of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assumptions: niche SaaS 40 users ~SAR 200–280/user/mo + 10% annual uplift; custom build SAR 2.5–3.5M + 17%/yr maintenance; A365 mid-tier D365 F&amp;O licensing + implementation + support. These are planning bands, not quotes — validate in RFP.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logic: buy commodity, build differentiation; custom only when owning maintenance for 3+ years. Rentey excluded from shortlist pending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management approval to run the RFP (owner: IT Application Management; timeline: 4-6 weeks; decision date: placeholder). Nothing is committed beyond due diligence spend at this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date: Dec 2026 or upon ZATCA wave change. Shariah structuring verdicts reserved to qualified scholars; regulatory citations to be confirmed against official Arabic 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Leasing Platform Decision — Saudi Arabia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SaaS vs platform vs custom build | Comparison &amp; recommendations | 30 September 2026 | Prepared by Basir — ARKAN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— the right answer depends on which leasing business you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/>
              <a:t>Governing thought: no single platform wins — Saudi regulatory fit (ZATCA + Tajeer) decides short-term rental; ERP-grade lifecycle decides corporate leasing</a:t>
            </a:r>
          </a:p>
          <a:p>
            <a:pPr/>
            <a:r>
              <a:rPr sz="1500"/>
              <a:t>Short-term car rental → local Saudi-native SaaS or configured local build (Tajeer + ZATCA Phase 2 native)</a:t>
            </a:r>
          </a:p>
          <a:p>
            <a:pPr/>
            <a:r>
              <a:rPr sz="1500"/>
              <a:t>Corporate operational + finance leasing → Annata A365 or CarPro LeaseProXL via formal RFP</a:t>
            </a:r>
          </a:p>
          <a:p>
            <a:pPr/>
            <a:r>
              <a:rPr sz="1500"/>
              <a:t>Custom build → only if leasing is a strategic differentiator AND a 3-year owning team is committed</a:t>
            </a:r>
          </a:p>
          <a:p>
            <a:pPr/>
            <a:r>
              <a:rPr sz="1500">
                <a:solidFill>
                  <a:srgbClr val="C0392B"/>
                </a:solidFill>
              </a:rPr>
              <a:t>CarPro: deepest lease pedigree (LeaseProXL, 1M+ vehicles claimed) — but now mid-merger (Emotion, Mar 2025): get written roadmap first</a:t>
            </a:r>
          </a:p>
          <a:p>
            <a:pPr/>
            <a:r>
              <a:rPr sz="1500">
                <a:solidFill>
                  <a:srgbClr val="C0392B"/>
                </a:solidFill>
              </a:rPr>
              <a:t>Rentey (Qoad): thinnest evidence base — include only after 2+ same-size operator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Saudi rental-leasing demand compounds at ~7–9% under Vision 2030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3108960" cy="3566160"/>
          </a:xfrm>
          <a:prstGeom prst="roundRect">
            <a:avLst/>
          </a:prstGeom>
          <a:solidFill>
            <a:srgbClr val="EE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F2937"/>
                </a:solidFill>
              </a:rPr>
              <a:t>Market signals</a:t>
            </a:r>
          </a:p>
          <a:p/>
          <a:p>
            <a:r>
              <a:t>• SAR 7.5bn (FY23) → 11.7bn (FY28E), 9.2% CAGR — Aljazira Capital</a:t>
            </a:r>
          </a:p>
          <a:p/>
          <a:p>
            <a:r>
              <a:t>• Long-term leasing growing faster than short-term; corporate + government fleet outsourcing</a:t>
            </a:r>
          </a:p>
          <a:p/>
          <a:p>
            <a:r>
              <a:t>• Top-3 players hold only ~25%/share — fragmented market</a:t>
            </a:r>
          </a:p>
          <a:p/>
          <a:p>
            <a:r>
              <a:t>• Govt requires regional HQs in-KSA (2024) → corporate lease demand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280160"/>
          <a:ext cx="7589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regulatory gates decide the winner: ZATCA, Tajeer, SAMA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ZATCA Fatoora Phase 2 — API integration for clearance/reporting, cryptographic stamp + QR; waves now down to SAR 1M turnover; Wave 24 (SAR 375K) cited for 2026 — verify against ZATCA</a:t>
            </a:r>
          </a:p>
          <a:p>
            <a:pPr/>
            <a:r>
              <a:rPr sz="1500"/>
              <a:t>Tajeer (Transport General Authority) — mandatory unified e-contract registration for car rental: 1.77M contracts issued in Q4 2025 alone; API setup SAR 15,000 + ~SAR 2.25/tx</a:t>
            </a:r>
          </a:p>
          <a:p>
            <a:pPr/>
            <a:r>
              <a:rPr sz="1500"/>
              <a:t>SAMA — finance lease is a licensed activity (Finance Companies Control Law + Finance Lease Law M/48): capital, governance, outsourcing/cloud non-objection</a:t>
            </a:r>
          </a:p>
          <a:p>
            <a:pPr/>
            <a:r>
              <a:rPr sz="1500"/>
              <a:t>PDPL + sector rules — GDPR-style law, BUT SAMA/CST/NCA keep regulated financial workloads effectively in-Kingdom; confirm hosting explicitly with any SaaS</a:t>
            </a:r>
          </a:p>
          <a:p>
            <a:pPr/>
            <a:r>
              <a:rPr sz="1500"/>
              <a:t>Language &amp; identity — Arabic-first contracts and UI; Absher/NAFATH e-signature flow is the Tajeer completion path</a:t>
            </a:r>
          </a:p>
          <a:p>
            <a:pPr/>
            <a:r>
              <a:rPr sz="1600" b="1">
                <a:solidFill>
                  <a:srgbClr val="0F4C5C"/>
                </a:solidFill>
              </a:rPr>
              <a:t>Consequence: international platforms clear these only with middleware — local SaaS and custom builds clear them natively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II — The Four Options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Who they are, what they prove, what to verify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CarPro (now Emotion) — deepest operational-lease pedigree, now mid-merger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Founded 1992 · HQ Amsterdam · rental + leasing + subscription modules; clients incl. Hertz, Europcar, LeasePlan, VW Financial Services (vendor claim)</a:t>
            </a:r>
          </a:p>
          <a:p>
            <a:pPr/>
            <a:r>
              <a:rPr sz="1500"/>
              <a:t>LeaseProXL: lease quotations, flexible invoicing (corporate/combined), AR + aging + collections, cashiers, multi-currency, fleet status</a:t>
            </a:r>
          </a:p>
          <a:p>
            <a:pPr/>
            <a:r>
              <a:rPr sz="1500"/>
              <a:t>Scale claim: 85+ countries, 1M+ vehicles, 500+ deployment partners</a:t>
            </a:r>
          </a:p>
          <a:p>
            <a:pPr/>
            <a:r>
              <a:rPr sz="1500">
                <a:solidFill>
                  <a:srgbClr val="C0392B"/>
                </a:solidFill>
              </a:rPr>
              <a:t>RED FLAG — ownership churn: sold to Ibérica (Jul 2020) → merged with Jimpisoft/Rentway into Emotion Mobility (Mar 2025); product-line consolidation underway</a:t>
            </a:r>
          </a:p>
          <a:p>
            <a:pPr/>
            <a:r>
              <a:rPr sz="1500">
                <a:solidFill>
                  <a:srgbClr val="C0392B"/>
                </a:solidFill>
              </a:rPr>
              <a:t>RED FLAG — no native ZATCA/Tajeer/Absher layer; requires middleware or local integrator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Rentey (Qoad) — promising all-in-one SaaS, but the thinnest evidence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Positioned as all-in-one rental platform: reservations + payments, built-in CRM, fleet optimization, analytics, mobile access</a:t>
            </a:r>
          </a:p>
          <a:p>
            <a:pPr/>
            <a:r>
              <a:rPr sz="1500"/>
              <a:t>Sits in Qoad's product family (QFleets for corporate car sharing) — vertical SaaS vendor</a:t>
            </a:r>
          </a:p>
          <a:p>
            <a:pPr/>
            <a:r>
              <a:rPr sz="1500">
                <a:solidFill>
                  <a:srgbClr val="C0392B"/>
                </a:solidFill>
              </a:rPr>
              <a:t>RED FLAG — public footprint limited to a single vendor product page: no verifiable customer references, funding, or headcount found (extraction blocked)</a:t>
            </a:r>
          </a:p>
          <a:p>
            <a:pPr/>
            <a:r>
              <a:rPr sz="1500">
                <a:solidFill>
                  <a:srgbClr val="C0392B"/>
                </a:solidFill>
              </a:rPr>
              <a:t>RED FLAG — no public evidence of ZATCA, Tajeer, or SAMA awareness; Arabic/localization status unknown</a:t>
            </a:r>
          </a:p>
          <a:p>
            <a:pPr/>
            <a:r>
              <a:rPr sz="1600" b="1"/>
              <a:t>Verdict: do not shortlist without proof — request 2+ same-size operator references and a live sandbox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Annata A365 — ERP-grade leasing on Dynamics 365; strongest at enterprise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Founded 2001 · HQ Kópavogur, Iceland · 15 offices / 4 continents · Microsoft Inner Circle ISV (top 1% of Dynamics partners)</a:t>
            </a:r>
          </a:p>
          <a:p>
            <a:pPr/>
            <a:r>
              <a:rPr sz="1500"/>
              <a:t>A365 = ERP + CRM + DMS industry solution on Dynamics 365 F&amp;O; Rental &amp; Subscription modules cover cradle-to-grave vehicle lifecycle</a:t>
            </a:r>
          </a:p>
          <a:p>
            <a:pPr/>
            <a:r>
              <a:rPr sz="1500"/>
              <a:t>Enterprise integration: finance (GL, fixed assets), audit trails, Copilot/Azure ecosystem; MEA delivery via partners (SHEA, Confiz — 2025 partnership)</a:t>
            </a:r>
          </a:p>
          <a:p>
            <a:pPr/>
            <a:r>
              <a:rPr sz="1500"/>
              <a:t>D365 ships a Saudi ZATCA e-invoicing localization (CSID onboarding path) — but integration work is on the implementer</a:t>
            </a:r>
          </a:p>
          <a:p>
            <a:pPr/>
            <a:r>
              <a:rPr sz="1500">
                <a:solidFill>
                  <a:srgbClr val="C0392B"/>
                </a:solidFill>
              </a:rPr>
              <a:t>CAUTION — no Riyadh office; Saudi delivery depends on partner quality. Verify D365 KSA reference implementations in RFP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build — total control and Saudi-native compliance, at a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Full control: own schema, own roadmap, ijara-compatible contract modelling, no per-seat licence tax, exit = your choice</a:t>
            </a:r>
          </a:p>
          <a:p>
            <a:pPr/>
            <a:r>
              <a:rPr sz="1500"/>
              <a:t>Native compliance possible from day one: ZATCA Phase 2 APIs, Tajeer + Absher/NAFATH, Arabic-first UI, PDPL in-Kingdom hosting</a:t>
            </a:r>
          </a:p>
          <a:p>
            <a:pPr/>
            <a:r>
              <a:rPr sz="1500"/>
              <a:t>TCO logic: custom wins 5-year view ONLY if maintained (budget 15–20%/yr of build cost) by a durable team — else it decays into legacy</a:t>
            </a:r>
          </a:p>
          <a:p>
            <a:pPr/>
            <a:r>
              <a:rPr sz="1500">
                <a:solidFill>
                  <a:srgbClr val="C0392B"/>
                </a:solidFill>
              </a:rPr>
              <a:t>Reality check: leasing-core build (contracts, SAMA reporting, fleet lifecycle, billing) = multi-million-SAR, 6–12+ month programme; generic ERP numbers ($18–60K) do NOT transfer</a:t>
            </a:r>
          </a:p>
          <a:p>
            <a:pPr/>
            <a:r>
              <a:rPr sz="1500"/>
              <a:t>Vendor-independence risk disappears; team/key-person risk appears — bus factor 2+ on every core module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 matrix — no option clears every Saudi gate natively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5F"/>
                          </a:solidFill>
                        </a:rPr>
                        <a:t>Dimension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5F"/>
                          </a:solidFill>
                        </a:rPr>
                        <a:t>CarPro LeaseProXL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5F"/>
                          </a:solidFill>
                        </a:rPr>
                        <a:t>Rentey (Qoad)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5F"/>
                          </a:solidFill>
                        </a:rPr>
                        <a:t>Annata A365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5F"/>
                          </a:solidFill>
                        </a:rPr>
                        <a:t>Local SaaS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5F"/>
                          </a:solidFill>
                        </a:rPr>
                        <a:t>Custom build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ZATCA Phase 2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Middleware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Unknown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Via D365 SA module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Native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Native (build)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Tajeer + Absher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Not native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Unknown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Not native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Native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Native (build)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Finance-lease depth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LeaseProXL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Rental focus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Full lifecycle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Rental-grade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As designed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Ijara / Shariah config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Configurable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Usually 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Full control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SAMA audit fit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Partial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ERP-grade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Partial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If designed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Arabic/RTL + NAFATH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Partial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Unknown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D365 multi-lang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Native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Native (build)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Time to go-live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4–8 wks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Unknown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3–6+ months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2–8 weeks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6–12+ months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5-yr TCO shape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Rises (seats)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Rises (seats)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High but flatter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Rises (sub)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Flattens if run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Exit / lock-in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Untested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Untested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D365 export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SaaS terms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Own schema</a:t>
                      </a:r>
                    </a:p>
                  </a:txBody>
                  <a:tcPr marL="45720" marR="45720" marT="18288" marB="18288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/>
                        <a:t>In-Kingdom hosting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Ask vendor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Ask vendor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Azure — verify region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Confirm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100"/>
                        <a:t>Your control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 profiles — strengths differ by option; verdict depends on scenario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234440"/>
          <a:ext cx="10972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5-year cumulative TCO — custom flattens, SaaS compounds (SAR 000s)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972800" cy="502920"/>
          </a:xfrm>
          <a:prstGeom prst="roundRect">
            <a:avLst/>
          </a:prstGeom>
          <a:solidFill>
            <a:srgbClr val="FFF3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533F03"/>
                </a:solidFill>
              </a:rPr>
              <a:t>ESTIMATE — order-of-magnitude only; actual pricing is quote-based. Excludes data migration, integrations, internal staffing. Crossover: none within 5 yrs for small fleets; custom crosses SaaS at ~6–8 yrs IF well maintained.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234440"/>
          <a:ext cx="10972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by scenario — three operators, three different right answers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5F"/>
                          </a:solidFill>
                        </a:rPr>
                        <a:t>Scenario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5F"/>
                          </a:solidFill>
                        </a:rPr>
                        <a:t>Recommended path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5F"/>
                          </a:solidFill>
                        </a:rPr>
                        <a:t>Why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5F"/>
                          </a:solidFill>
                        </a:rPr>
                        <a:t>Time-to-value</a:t>
                      </a:r>
                    </a:p>
                  </a:txBody>
                  <a:tcPr marL="45720" marR="45720" marT="18288" marB="18288"/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00"/>
                        <a:t>Short-term rental (branches, consumer)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Local Saudi-native SaaS / configured local build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Tajeer + ZATCA native; Absher e-sign flow; Arabic-first; go live in weeks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2–8 weeks</a:t>
                      </a:r>
                    </a:p>
                  </a:txBody>
                  <a:tcPr marL="45720" marR="45720" marT="18288" marB="18288"/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00"/>
                        <a:t>Corporate op. + finance leasing at scale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Annata A365 vs CarPro LeaseProXL — run a tight 6-week RFP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ERP-grade lifecycle + audit; D365 finance integration; SAMA supervisory fit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3–6+ months</a:t>
                      </a:r>
                    </a:p>
                  </a:txBody>
                  <a:tcPr marL="45720" marR="45720" marT="18288" marB="18288"/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00"/>
                        <a:t>Leasing as differentiator, 3-yr team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Custom core + local compliance layer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Own schema/roadmap; ijara modelling; no seat tax; moat if maintained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/>
                        <a:t>6–12+ months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892040"/>
            <a:ext cx="11247120" cy="914400"/>
          </a:xfrm>
          <a:prstGeom prst="roundRect">
            <a:avLst/>
          </a:prstGeom>
          <a:solidFill>
            <a:srgbClr val="E8F1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F4C5C"/>
                </a:solidFill>
              </a:rPr>
              <a:t>For AlMajdouie's corporate leasing ambition: run the RFP between Annata A365 and CarPro LeaseProXL (+ one local compliance integrator), with custom build held as the strategic option behind a capability gate, not as the default.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ask — approve scenario-led shortlisting and vendor due diligence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1. Approve the scenario framework (this deck) as the basis for platform choice</a:t>
            </a:r>
          </a:p>
          <a:p>
            <a:pPr/>
            <a:r>
              <a:rPr sz="1500"/>
              <a:t>2. Commission formal RFP: Annata A365 + CarPro LeaseProXL + 1 local integrator (4–6 weeks)</a:t>
            </a:r>
          </a:p>
          <a:p>
            <a:pPr/>
            <a:r>
              <a:rPr sz="1500"/>
              <a:t>3. Demand from each vendor: 2+ same-size KSA/GCC references, sandbox PoC on OUR data, exit clauses in writing</a:t>
            </a:r>
          </a:p>
          <a:p>
            <a:pPr/>
            <a:r>
              <a:rPr sz="1500"/>
              <a:t>4. Verify SAMA scope + ijara structuring with counsel/scholars before any finance-lease module decision</a:t>
            </a:r>
          </a:p>
          <a:p>
            <a:pPr/>
            <a:r>
              <a:rPr sz="1500"/>
              <a:t>5. Confirm ZATCA wave position + Tajeer scope with ZATCA/TGA directly (current: waves to SAR 1M; Wave 24 cited 2026)</a:t>
            </a:r>
          </a:p>
          <a:p>
            <a:pPr/>
            <a:r>
              <a:rPr sz="1600" b="1"/>
              <a:t>6. Decide build-vs-buy only after RFP results — with the 3-year ownership test applied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sources, confidence, known gaps (as of 30 Sep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Vendors — CarPro: carprosystems.com (LeaseProXL) · CFI (2020 sale to Ibérica) · Auto Rental News (Emotion merger, Mar 2025) · CB Insights</a:t>
            </a:r>
          </a:p>
          <a:p>
            <a:pPr/>
            <a:r>
              <a:rPr sz="1200"/>
              <a:t>Vendors — Annata: annata.net (contact, rental solution) · Craft/LinkedIn · SHEA · Confiz (Sep 2025) · Microsoft Learn (D365 KSA e-invoicing)</a:t>
            </a:r>
          </a:p>
          <a:p>
            <a:pPr/>
            <a:r>
              <a:rPr sz="1200"/>
              <a:t>Vendors — Rentey: qoad.com supplier page only (single source — low confidence)</a:t>
            </a:r>
          </a:p>
          <a:p>
            <a:pPr/>
            <a:r>
              <a:rPr sz="1200"/>
              <a:t>Regulatory — ZATCA e-invoicing detailed guideline (zatca.gov.sa) · SAMA Rulebook (Finance Companies Control Law; Finance Lease Law M/48) · SDAIA PDPL guide · TGA/Tajeer (tga.gov.sa, elm.sa, rabet.sa: SAR 15,000 API setup)</a:t>
            </a:r>
          </a:p>
          <a:p>
            <a:pPr/>
            <a:r>
              <a:rPr sz="1200"/>
              <a:t>Market — Aljazira Capital Transportation Outlook (SAR 7.5bn FY23 → 11.7bn FY28E) · Research&amp;Markets 2026–2031 (USD 3.07bn 2026, 7.09% CAGR)</a:t>
            </a:r>
          </a:p>
          <a:p>
            <a:pPr/>
            <a:r>
              <a:rPr sz="1200"/>
              <a:t>TCO — ACM case study (2025, ERP SaaS vs IaaS) · SitePoint custom-vs-OTS · CISIN framework (vendor-adjacent, framing only)</a:t>
            </a:r>
          </a:p>
          <a:p>
            <a:pPr/>
            <a:r>
              <a:rPr sz="1200">
                <a:solidFill>
                  <a:srgbClr val="C0392B"/>
                </a:solidFill>
              </a:rPr>
              <a:t>GAPS — Rentey references unknown · Tajeer scope for long-term leasing unconfirmed (→ TGA/counsel) · all pricing quote-based · Wave 24 cited Jun 2026 (→ verify with ZATCA)</a:t>
            </a:r>
          </a:p>
          <a:p>
            <a:pPr/>
            <a:r>
              <a:rPr sz="1200" i="1"/>
              <a:t>Confidence: HIGH on vendor identities + regulatory framework; MEDIUM on TCO bands (estimates); LOW on Rentey capability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ARKAN Research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