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Market pools (SAR bn)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SAR bn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Leasing '25E</c:v>
                </c:pt>
                <c:pt idx="1">
                  <c:v>Leasing '31F</c:v>
                </c:pt>
                <c:pt idx="2">
                  <c:v>Rental '24</c:v>
                </c:pt>
                <c:pt idx="3">
                  <c:v>Rental '29F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8.55</c:v>
                </c:pt>
                <c:pt idx="2">
                  <c:v>4.0</c:v>
                </c:pt>
                <c:pt idx="3">
                  <c:v>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SAR millions (estimates)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Capital required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50</c:v>
                </c:pt>
                <c:pt idx="2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Y2 run-rate 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16</c:v>
                </c:pt>
                <c:pt idx="2">
                  <c:v>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Confidential draft prepared for executive review. Ask at the end: approve Option A+ (corporate-first, phase-gated) and Phase 0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gap: we already supply 20,000+ vehicles to a single lessor. The recommendation is corporate-first, consumer delayed behind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AlJazira Capital Feb-2026; MarqStats fleet leasing 2026; Ken Research 2026. All accessed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Top-4 hold ~58% of lease fleet and ~53% of total industry revenue. Entry logic: middle market, not head-on.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slide: from market to the four Auto Lead lines and the annuity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 Lease is the Phase-1 core; Used Lead supports from day one; Quick/Fix monetize after the fleet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layer 1 is the whole P&amp;L. A leasing arm layers 2–5 on vehicles we already sell and service. GIB via Ken Research: long-term contracts ≈45% of listed lessors' revenue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each point to an existing asset — this is a repositioning, not a greenfield.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financials are analyst estimates built on cited benchmarks (SAR ~90k avg vehicle, ~35% equity share, ~SAR 27k/vehicle blended revenue).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Chart: SAR millions, analyst estimates. Option C capital is step-change and regulator-dependent.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Gates are hard stops: no gate, no next phase. G4 returns capital decision to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risks deserve emphasis: residual values (we are on the buy side — structural advantage) and SAMA scope creep on Fix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respectfully: the vision's direction is sound; the recommendation is about gating capital, not about doubting the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Benchmarks from sector data (MarqStats 2025; ANB Capital 2024 recovery range). Internal targets marked as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approvals. If challenged on capital: the gates cap exposure — Phase 0 is the only money at risk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Leasing Operations under Auto Lead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AlMajdouie Motors • Saudi Market Business Case • Executive Review Draft • 30 September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730752"/>
            <a:ext cx="12188952" cy="73152"/>
          </a:xfrm>
          <a:prstGeom prst="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64240" cy="45720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MARKET • OPTIONS • RISKS •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— Why Leasing,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The annuity gap: we sell fleets to lessors (Yelo: 15,500+ Changan, 5,000+ Hyundai/Genesis) — the lease profit, data and remarketing leave the group</a:t>
            </a:r>
          </a:p>
          <a:p>
            <a:pPr/>
            <a:r>
              <a:rPr sz="1700"/>
              <a:t>Saudi long-term leasing: SAR 4.3bn (2025E) → SAR 8.55bn (2031F), ~11.3% CAGR — fastest-growing recurring pool in the value chain</a:t>
            </a:r>
          </a:p>
          <a:p>
            <a:pPr/>
            <a:r>
              <a:rPr sz="1700"/>
              <a:t>Consolidating market: top-4 operators hold ~53% of revenue; the middle market (SMEs, regional corporates) is still open</a:t>
            </a:r>
          </a:p>
          <a:p>
            <a:pPr/>
            <a:r>
              <a:rPr sz="1700"/>
              <a:t>Window: the current pre-IPO price war is temporary — entering after consolidation is harder and costlier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064240" cy="105156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RECOMMENDATION — Option A+: corporate-first operating lease in 2027 (Auto Lease + Used Lead); consumer Quick/Fix Lead behind a KPI gate; full-stack + financing deferred to 2029+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234440"/>
            <a:ext cx="4846320" cy="123444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Long-term leasing ~11.3% CAGR to 2031 — fastest-growing recurring pool in the auto value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697480"/>
            <a:ext cx="4846320" cy="123444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Institutional demand = ~76% of forecast fleet growth to 2031 (government, corporates, contractors)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4160520"/>
            <a:ext cx="4846320" cy="1280160"/>
          </a:xfrm>
          <a:prstGeom prst="roundRect">
            <a:avLst/>
          </a:prstGeom>
          <a:solidFill>
            <a:srgbClr val="35507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Digital channel: 36% → 72% of transactions by 2032 — product design must be app-first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23444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9451">
                <a:tc>
                  <a:txBody>
                    <a:bodyPr/>
                    <a:lstStyle/>
                    <a:p>
                      <a: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Lease fleet share (2025E)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Fleet (veh)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Position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t>Budget Saudi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~43,700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 leader; post-AutoWorld consolidation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t>Theeb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 discipline; 6.5% LT-lease share in 5 yrs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t>Lumi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~23,500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Digital-first exposure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t>Cherry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Leasing-heavy earnings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t>Top-4 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~109,300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~53% of total industry revenue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r>
                        <a:t>Auto Lead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~0.7% by Y2 (est.)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1,000–1,500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Corporate-first entry into underserved middle market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57800"/>
            <a:ext cx="11064240" cy="91440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Pre-IPO price war = temporary margin pressure (AlJazira, Feb 2026). Ride-hailing + Riyadh Metro pressure short-term rental — multi-year corporate contracts are structurally insulated (ANB Capital).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 — Product Architecture &amp; Value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137160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AUTO LEASE — Corporate operating lease, full service (PHASE 1 CORE)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651760" cy="137160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QUICK LEAD — Monthly consumer subscription (PHASE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2651760" cy="137160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FIX LEAD — Service &amp; maintenance plans (PHASE 2 ADD-ON)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371600"/>
            <a:ext cx="2651760" cy="1371600"/>
          </a:xfrm>
          <a:prstGeom prst="roundRect">
            <a:avLst/>
          </a:prstGeom>
          <a:solidFill>
            <a:srgbClr val="35507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USED LEAD — Certified pre-owned for lease returns (DAY-ONE SUPPORT)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54480" y="2880360"/>
            <a:ext cx="640080" cy="502920"/>
          </a:xfrm>
          <a:prstGeom prst="rightArrow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434840" y="2880360"/>
            <a:ext cx="640080" cy="502920"/>
          </a:xfrm>
          <a:prstGeom prst="rightArrow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315200" y="2880360"/>
            <a:ext cx="640080" cy="502920"/>
          </a:xfrm>
          <a:prstGeom prst="rightArrow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10195560" y="2880360"/>
            <a:ext cx="640080" cy="502920"/>
          </a:xfrm>
          <a:prstGeom prst="rightArrow">
            <a:avLst/>
          </a:prstGeom>
          <a:solidFill>
            <a:srgbClr val="35507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2651760" cy="146304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Corporates, government, giga-project contractors — 87% of leased-fleet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520440"/>
            <a:ext cx="2651760" cy="146304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Individuals, SMEs, new arrivals — digital app-first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20440"/>
            <a:ext cx="2651760" cy="146304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Existing service-loyalty base — Hyundai/Changan workshops already in-network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520440"/>
            <a:ext cx="2651760" cy="146304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Lease-return remarketing — end of a USD 24.5bn used market (1.6M txns/yr)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11292840" cy="7315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Regulatory path: TGA licenses rental/leasing activity • SAMA review triggered only if any product embeds consumer credit (Fix Lead payment plans — legal opinion first)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1828800"/>
            <a:ext cx="2240280" cy="1188720"/>
          </a:xfrm>
          <a:prstGeom prst="chevron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1. Vehicle Sale — TODAY</a:t>
            </a:r>
          </a:p>
        </p:txBody>
      </p:sp>
      <p:sp>
        <p:nvSpPr>
          <p:cNvPr id="6" name="Chevron 5"/>
          <p:cNvSpPr/>
          <p:nvPr/>
        </p:nvSpPr>
        <p:spPr>
          <a:xfrm>
            <a:off x="2761488" y="1828800"/>
            <a:ext cx="2240280" cy="1188720"/>
          </a:xfrm>
          <a:prstGeom prst="chevron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2. Lease Yield</a:t>
            </a:r>
          </a:p>
        </p:txBody>
      </p:sp>
      <p:sp>
        <p:nvSpPr>
          <p:cNvPr id="7" name="Chevron 6"/>
          <p:cNvSpPr/>
          <p:nvPr/>
        </p:nvSpPr>
        <p:spPr>
          <a:xfrm>
            <a:off x="4974336" y="1828800"/>
            <a:ext cx="2240280" cy="1188720"/>
          </a:xfrm>
          <a:prstGeom prst="chevron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3. Service &amp; Maintenance</a:t>
            </a:r>
          </a:p>
        </p:txBody>
      </p:sp>
      <p:sp>
        <p:nvSpPr>
          <p:cNvPr id="8" name="Chevron 7"/>
          <p:cNvSpPr/>
          <p:nvPr/>
        </p:nvSpPr>
        <p:spPr>
          <a:xfrm>
            <a:off x="7187184" y="1828800"/>
            <a:ext cx="2240280" cy="1188720"/>
          </a:xfrm>
          <a:prstGeom prst="chevron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4. Remarketing (Used)</a:t>
            </a:r>
          </a:p>
        </p:txBody>
      </p:sp>
      <p:sp>
        <p:nvSpPr>
          <p:cNvPr id="9" name="Chevron 8"/>
          <p:cNvSpPr/>
          <p:nvPr/>
        </p:nvSpPr>
        <p:spPr>
          <a:xfrm>
            <a:off x="9400032" y="1828800"/>
            <a:ext cx="2240280" cy="1188720"/>
          </a:xfrm>
          <a:prstGeom prst="chevron">
            <a:avLst/>
          </a:prstGeom>
          <a:solidFill>
            <a:srgbClr val="35507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5. Fleet Data &amp; Telematics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5440680" cy="1051560"/>
          </a:xfrm>
          <a:prstGeom prst="roundRect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TODAY: one-time margin — layers 2–5 accrue to lessors (e.g., Yelo) buying our vehicles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422392" cy="1051560"/>
          </a:xfrm>
          <a:prstGeom prst="roundRect">
            <a:avLst/>
          </a:prstGeom>
          <a:solidFill>
            <a:srgbClr val="2A9D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TARGET: full five-layer annuity on vehicles we already sell, service and remarket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1672" cy="73152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Long-term contracts ≈ 45% of listed lessors' 2025–26 revenue mix (GIB Capital via Ken Research) — recurring revenue is where the sector's margin is moving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Fit — Why AlMajdouie Can Win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Annuity stacking — converts episodic vehicle sales into 1–5 year contracted revenue on our own brands</a:t>
            </a:r>
          </a:p>
          <a:p>
            <a:pPr/>
            <a:r>
              <a:rPr sz="1800"/>
              <a:t>Demand we control — AlMajdouie group companies (logistics, industrial, real estate) are anchor operating-lease customers competitors must win through tenders</a:t>
            </a:r>
          </a:p>
          <a:p>
            <a:pPr/>
            <a:r>
              <a:rPr sz="1800"/>
              <a:t>Full-margin loop — lease → in-network maintenance (100k+ vehicles/yr serviced today) → remarketing via Used Lead</a:t>
            </a:r>
          </a:p>
          <a:p>
            <a:pPr/>
            <a:r>
              <a:rPr sz="1800"/>
              <a:t>Vision 2030 alignment — mobility-as-a-service, EV fleet transition (Deepal + alfanar charging), Saudization of service talent</a:t>
            </a:r>
          </a:p>
          <a:p>
            <a:pPr/>
            <a:r>
              <a:rPr sz="1800"/>
              <a:t>Defensive timing — middle market remains open; top-4 consolidation is closing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2251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— Corporate-first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 — Consumer-first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 — Full-stack + finance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 Lease + Used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Quick + Fix subscriptions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lines + captive financing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Capital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 60–65M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 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SAR 180–200M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Y2 run-rate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~SAR 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~SAR 16M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~SAR 81M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Regulatory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(TGA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— SAMA finance license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Use of existing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— workshops, brands, OEM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Phase-1 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Weakest first 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Defer to 2029+ board gate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49240"/>
            <a:ext cx="11064240" cy="86868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Recommended path (A+): Phase 1 corporate lease 2027 → KPI gate → Quick/Fix consumer 2028–29 → KPI gate → full stack &amp; financing decision 2029+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234440"/>
            <a:ext cx="4160520" cy="137160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A: ~SAR 60–65M → ~SAR 40M/yr run-rate by Y2 — fastest breakeven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834640"/>
            <a:ext cx="4160520" cy="1371600"/>
          </a:xfrm>
          <a:prstGeom prst="roundRect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C: ~SAR 180–200M AND a SAMA license — highest risk of value destruction if rushed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434840"/>
            <a:ext cx="4160520" cy="141732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Path: fund A now; C only if Phase-2 gates pass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23444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3434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02336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Timing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Anchor LOIs ≥ 500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 0 → Phase 1 funding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Utilization ≥ 75%; unit gap &lt; SAR 4k/vehicle/yr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 → corporate scale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Consumer churn &lt; 4%/mo; remarketing recovery ≥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Quick/Fix go-no-go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t>G4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SAMA license vs partner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Board vote — capital step-change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1554480"/>
            <a:ext cx="2514600" cy="123444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PHASE 0 — Q4 2026: Governance &amp; feasibility, SAMA/TGA checks, anchor 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514600" cy="123444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PHASE 1 — H1 2027: Entity + license + 250-vehicle corporate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2514600" cy="1234440"/>
          </a:xfrm>
          <a:prstGeom prst="roundRect">
            <a:avLst/>
          </a:prstGeom>
          <a:solidFill>
            <a:srgbClr val="1421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PHASE 2 — H2 27–28: Scale to 1,500 + Quick/Fix pilots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554480"/>
            <a:ext cx="2514600" cy="1234440"/>
          </a:xfrm>
          <a:prstGeom prst="roundRect">
            <a:avLst/>
          </a:prstGeom>
          <a:solidFill>
            <a:srgbClr val="35507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PHASE 3 — 2029+: Financing layer &amp; regional scale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1965960"/>
            <a:ext cx="594360" cy="411480"/>
          </a:xfrm>
          <a:prstGeom prst="rightArrow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486400" y="1965960"/>
            <a:ext cx="594360" cy="411480"/>
          </a:xfrm>
          <a:prstGeom prst="rightArrow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229600" y="1965960"/>
            <a:ext cx="594360" cy="411480"/>
          </a:xfrm>
          <a:prstGeom prst="rightArrow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2697480" y="3154680"/>
            <a:ext cx="960120" cy="960120"/>
          </a:xfrm>
          <a:prstGeom prst="diamond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14" name="Diamond 13"/>
          <p:cNvSpPr/>
          <p:nvPr/>
        </p:nvSpPr>
        <p:spPr>
          <a:xfrm>
            <a:off x="5440680" y="3154680"/>
            <a:ext cx="960120" cy="960120"/>
          </a:xfrm>
          <a:prstGeom prst="diamond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5" name="Diamond 14"/>
          <p:cNvSpPr/>
          <p:nvPr/>
        </p:nvSpPr>
        <p:spPr>
          <a:xfrm>
            <a:off x="8183879" y="3154680"/>
            <a:ext cx="960120" cy="960120"/>
          </a:xfrm>
          <a:prstGeom prst="diamond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16" name="Diamond 15"/>
          <p:cNvSpPr/>
          <p:nvPr/>
        </p:nvSpPr>
        <p:spPr>
          <a:xfrm>
            <a:off x="10927080" y="3154680"/>
            <a:ext cx="960120" cy="960120"/>
          </a:xfrm>
          <a:prstGeom prst="diamond">
            <a:avLst/>
          </a:prstGeom>
          <a:solidFill>
            <a:srgbClr val="B23A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G4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05394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t>Pre-IPO price war squeezing margins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Segment discipline: SMEs, second-tier corporates, regional cities; price on service bundles, not day-rates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t>Residual-value exposure in a deflating used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Used Lead exit channel; shorter cycles for volatile segments; OEM residual risk-sharing (we sit on the buy side)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t>Channel conflict with Yelo and fleet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Formal product segmentation charter: corporate full-service only, never short-term rental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t>Fix Lead drifting into SAMA consumer-finance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Written SAMA scoping opinion before any payment-plan launch; Compliance/Legal owns the verdict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r>
                        <a:t>Financing-cost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Islamic (ijara-based) facilities line secured with group bank before launch</a:t>
                      </a:r>
                    </a:p>
                  </a:txBody>
                  <a:tcPr/>
                </a:tc>
              </a:tr>
              <a:tr h="705396">
                <a:tc>
                  <a:txBody>
                    <a:bodyPr/>
                    <a:lstStyle/>
                    <a:p>
                      <a:r>
                        <a:t>EV residual uncertainty (30% Riyadh EV target 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 EV share of Phase-1 fleet; Deepal + alfanar charging as controlled experiments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CEO Vision — Prediction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Prediction (inference, labeled as such): the group is converting from vehicle distributor to mobility company — recurring revenue, in-house vehicle data, halal-structured financing, an investable asset comparable to Budget/Theeb</a:t>
            </a:r>
          </a:p>
          <a:p>
            <a:pPr/>
            <a:r>
              <a:rPr sz="1700"/>
              <a:t>Evidence pointing there: 2024–26 brand launches; Auto Lead facility build-out; automotive-finance function in place; alfanar EV-charging partnership; used-car exchange footprint</a:t>
            </a:r>
          </a:p>
          <a:p>
            <a:pPr/>
            <a:r>
              <a:rPr sz="1700"/>
              <a:t>What would confirm it: a stated mobility-services ambition or finance-license plan</a:t>
            </a:r>
          </a:p>
          <a:p>
            <a:pPr/>
            <a:r>
              <a:rPr sz="1700"/>
              <a:t>What would challenge it: capex austerity or near-term dividend priority</a:t>
            </a:r>
          </a:p>
          <a:p>
            <a:pPr/>
            <a:r>
              <a:rPr sz="1700"/>
              <a:t>Action: verify in Phase 0 executive review before aligning the pitch — direction is sound; the debate is sequence and capital 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Auto Lead Leasing — Business Case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Benchmark basis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Fleet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Sector 74% → 79% by 2032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Revenue per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SAR 23k/yr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National avg SAR 22.9k (2025)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Remarketing price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60–65%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Listed peers 56–70% (2024)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Days to remarket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 45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target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Corporate 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Internal target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Telematics data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of fleet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Management prerequisite for Phase 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Consumer churn (Phase 2 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4%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 to Quick/Fix scale-up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F5E9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Reported quarterly to the steering committee; gates G2–G3 read directly off this scoreboard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Decision Requested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900" b="1"/>
              <a:t>1. Approve Option A+ — corporate-first operating lease, phase-gated</a:t>
            </a:r>
          </a:p>
          <a:p>
            <a:pPr/>
            <a:r>
              <a:rPr sz="1900"/>
              <a:t>2. Release Phase 0 budget — demand study, TGA pre-check, SAMA scoping memo, anchor LOIs</a:t>
            </a:r>
          </a:p>
          <a:p>
            <a:pPr/>
            <a:r>
              <a:rPr sz="1900"/>
              <a:t>3. Mandate the fleet-services MD search</a:t>
            </a:r>
          </a:p>
          <a:p>
            <a:pPr/>
            <a:r>
              <a:rPr sz="1900"/>
              <a:t>4. Direct treasury to structure an ijara-based fleet financing line with the group bank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74920"/>
            <a:ext cx="11064240" cy="1143000"/>
          </a:xfrm>
          <a:prstGeom prst="roundRect">
            <a:avLst/>
          </a:prstGeom>
          <a:solidFill>
            <a:srgbClr val="D4A9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4213D"/>
                </a:solidFill>
              </a:rPr>
              <a:t>NEXT STEP — Phase 0 executive review in Q4 2026; Phase 1 funding decision targeted Q1 2027. Only money at risk today is Phase 0 (feasibility) — fleet capital is committed only after gate G1.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